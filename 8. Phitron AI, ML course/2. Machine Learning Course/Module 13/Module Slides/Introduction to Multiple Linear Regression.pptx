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8229600" cx="14630400"/>
  <p:notesSz cx="8229600" cy="14630400"/>
  <p:embeddedFontLst>
    <p:embeddedFont>
      <p:font typeface="Marcellus"/>
      <p:regular r:id="rId15"/>
    </p:embeddedFont>
    <p:embeddedFont>
      <p:font typeface="Montserrat"/>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Marcellus-regular.fntdata"/><Relationship Id="rId14" Type="http://schemas.openxmlformats.org/officeDocument/2006/relationships/slide" Target="slides/slide10.xml"/><Relationship Id="rId17" Type="http://schemas.openxmlformats.org/officeDocument/2006/relationships/font" Target="fonts/Montserrat-bold.fntdata"/><Relationship Id="rId16" Type="http://schemas.openxmlformats.org/officeDocument/2006/relationships/font" Target="fonts/Montserrat-regular.fntdata"/><Relationship Id="rId5" Type="http://schemas.openxmlformats.org/officeDocument/2006/relationships/slide" Target="slides/slide1.xml"/><Relationship Id="rId19" Type="http://schemas.openxmlformats.org/officeDocument/2006/relationships/font" Target="fonts/Montserrat-boldItalic.fntdata"/><Relationship Id="rId6" Type="http://schemas.openxmlformats.org/officeDocument/2006/relationships/slide" Target="slides/slide2.xml"/><Relationship Id="rId18" Type="http://schemas.openxmlformats.org/officeDocument/2006/relationships/font" Target="fonts/Montserrat-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 name="Google Shape;4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 name="Google Shape;5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 name="Google Shape;6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3" name="Shape 13"/>
        <p:cNvGrpSpPr/>
        <p:nvPr/>
      </p:nvGrpSpPr>
      <p:grpSpPr>
        <a:xfrm>
          <a:off x="0" y="0"/>
          <a:ext cx="0" cy="0"/>
          <a:chOff x="0" y="0"/>
          <a:chExt cx="0" cy="0"/>
        </a:xfrm>
      </p:grpSpPr>
      <p:sp>
        <p:nvSpPr>
          <p:cNvPr id="14" name="Google Shape;14;p3"/>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3"/>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6" name="Shape 16"/>
        <p:cNvGrpSpPr/>
        <p:nvPr/>
      </p:nvGrpSpPr>
      <p:grpSpPr>
        <a:xfrm>
          <a:off x="0" y="0"/>
          <a:ext cx="0" cy="0"/>
          <a:chOff x="0" y="0"/>
          <a:chExt cx="0" cy="0"/>
        </a:xfrm>
      </p:grpSpPr>
      <p:sp>
        <p:nvSpPr>
          <p:cNvPr id="17" name="Google Shape;17;p4"/>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19" name="Shape 19"/>
        <p:cNvGrpSpPr/>
        <p:nvPr/>
      </p:nvGrpSpPr>
      <p:grpSpPr>
        <a:xfrm>
          <a:off x="0" y="0"/>
          <a:ext cx="0" cy="0"/>
          <a:chOff x="0" y="0"/>
          <a:chExt cx="0" cy="0"/>
        </a:xfrm>
      </p:grpSpPr>
      <p:sp>
        <p:nvSpPr>
          <p:cNvPr id="20" name="Google Shape;20;p5"/>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5"/>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2" name="Shape 22"/>
        <p:cNvGrpSpPr/>
        <p:nvPr/>
      </p:nvGrpSpPr>
      <p:grpSpPr>
        <a:xfrm>
          <a:off x="0" y="0"/>
          <a:ext cx="0" cy="0"/>
          <a:chOff x="0" y="0"/>
          <a:chExt cx="0" cy="0"/>
        </a:xfrm>
      </p:grpSpPr>
      <p:sp>
        <p:nvSpPr>
          <p:cNvPr id="23" name="Google Shape;23;p6"/>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6"/>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25" name="Shape 25"/>
        <p:cNvGrpSpPr/>
        <p:nvPr/>
      </p:nvGrpSpPr>
      <p:grpSpPr>
        <a:xfrm>
          <a:off x="0" y="0"/>
          <a:ext cx="0" cy="0"/>
          <a:chOff x="0" y="0"/>
          <a:chExt cx="0" cy="0"/>
        </a:xfrm>
      </p:grpSpPr>
      <p:sp>
        <p:nvSpPr>
          <p:cNvPr id="26" name="Google Shape;26;p7"/>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7"/>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28" name="Shape 28"/>
        <p:cNvGrpSpPr/>
        <p:nvPr/>
      </p:nvGrpSpPr>
      <p:grpSpPr>
        <a:xfrm>
          <a:off x="0" y="0"/>
          <a:ext cx="0" cy="0"/>
          <a:chOff x="0" y="0"/>
          <a:chExt cx="0" cy="0"/>
        </a:xfrm>
      </p:grpSpPr>
      <p:sp>
        <p:nvSpPr>
          <p:cNvPr id="29" name="Google Shape;29;p8"/>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8"/>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1" name="Shape 31"/>
        <p:cNvGrpSpPr/>
        <p:nvPr/>
      </p:nvGrpSpPr>
      <p:grpSpPr>
        <a:xfrm>
          <a:off x="0" y="0"/>
          <a:ext cx="0" cy="0"/>
          <a:chOff x="0" y="0"/>
          <a:chExt cx="0" cy="0"/>
        </a:xfrm>
      </p:grpSpPr>
      <p:sp>
        <p:nvSpPr>
          <p:cNvPr id="32" name="Google Shape;32;p9"/>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9"/>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34" name="Shape 34"/>
        <p:cNvGrpSpPr/>
        <p:nvPr/>
      </p:nvGrpSpPr>
      <p:grpSpPr>
        <a:xfrm>
          <a:off x="0" y="0"/>
          <a:ext cx="0" cy="0"/>
          <a:chOff x="0" y="0"/>
          <a:chExt cx="0" cy="0"/>
        </a:xfrm>
      </p:grpSpPr>
      <p:sp>
        <p:nvSpPr>
          <p:cNvPr id="35" name="Google Shape;35;p10"/>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0"/>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37" name="Shape 37"/>
        <p:cNvGrpSpPr/>
        <p:nvPr/>
      </p:nvGrpSpPr>
      <p:grpSpPr>
        <a:xfrm>
          <a:off x="0" y="0"/>
          <a:ext cx="0" cy="0"/>
          <a:chOff x="0" y="0"/>
          <a:chExt cx="0" cy="0"/>
        </a:xfrm>
      </p:grpSpPr>
      <p:sp>
        <p:nvSpPr>
          <p:cNvPr id="38" name="Google Shape;38;p11"/>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11"/>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0" name="Shape 4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10.png"/><Relationship Id="rId6"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image" Target="../media/image11.png"/><Relationship Id="rId5" Type="http://schemas.openxmlformats.org/officeDocument/2006/relationships/image" Target="../media/image4.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1.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pic>
        <p:nvPicPr>
          <p:cNvPr descr="preencoded.png" id="46" name="Google Shape;46;p13"/>
          <p:cNvPicPr preferRelativeResize="0"/>
          <p:nvPr/>
        </p:nvPicPr>
        <p:blipFill rotWithShape="1">
          <a:blip r:embed="rId3">
            <a:alphaModFix/>
          </a:blip>
          <a:srcRect b="0" l="0" r="0" t="0"/>
          <a:stretch/>
        </p:blipFill>
        <p:spPr>
          <a:xfrm>
            <a:off x="8869680" y="0"/>
            <a:ext cx="5760720" cy="8229600"/>
          </a:xfrm>
          <a:prstGeom prst="rect">
            <a:avLst/>
          </a:prstGeom>
          <a:noFill/>
          <a:ln>
            <a:noFill/>
          </a:ln>
        </p:spPr>
      </p:pic>
      <p:sp>
        <p:nvSpPr>
          <p:cNvPr id="47" name="Google Shape;47;p13"/>
          <p:cNvSpPr/>
          <p:nvPr/>
        </p:nvSpPr>
        <p:spPr>
          <a:xfrm>
            <a:off x="793790" y="3095149"/>
            <a:ext cx="7556421" cy="1483519"/>
          </a:xfrm>
          <a:prstGeom prst="rect">
            <a:avLst/>
          </a:prstGeom>
          <a:noFill/>
          <a:ln>
            <a:noFill/>
          </a:ln>
        </p:spPr>
        <p:txBody>
          <a:bodyPr anchorCtr="0" anchor="t" bIns="0" lIns="0" spcFirstLastPara="1" rIns="0" wrap="square" tIns="0">
            <a:noAutofit/>
          </a:bodyPr>
          <a:lstStyle/>
          <a:p>
            <a:pPr indent="0" lvl="0" marL="0" marR="0" rtl="0" algn="l">
              <a:lnSpc>
                <a:spcPct val="130337"/>
              </a:lnSpc>
              <a:spcBef>
                <a:spcPts val="0"/>
              </a:spcBef>
              <a:spcAft>
                <a:spcPts val="0"/>
              </a:spcAft>
              <a:buClr>
                <a:srgbClr val="532418"/>
              </a:buClr>
              <a:buSzPts val="4450"/>
              <a:buFont typeface="Marcellus"/>
              <a:buNone/>
            </a:pPr>
            <a:r>
              <a:rPr b="0" i="0" lang="en-US" sz="4450" u="none" cap="none" strike="noStrike">
                <a:solidFill>
                  <a:srgbClr val="532418"/>
                </a:solidFill>
                <a:latin typeface="Marcellus"/>
                <a:ea typeface="Marcellus"/>
                <a:cs typeface="Marcellus"/>
                <a:sym typeface="Marcellus"/>
              </a:rPr>
              <a:t>Introduction to Multiple Linear Regression</a:t>
            </a:r>
            <a:endParaRPr b="0" i="0" sz="4450" u="none" cap="none" strike="noStrike"/>
          </a:p>
        </p:txBody>
      </p:sp>
      <p:sp>
        <p:nvSpPr>
          <p:cNvPr id="48" name="Google Shape;48;p13"/>
          <p:cNvSpPr/>
          <p:nvPr/>
        </p:nvSpPr>
        <p:spPr>
          <a:xfrm>
            <a:off x="793790" y="4876324"/>
            <a:ext cx="7556421"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Predicting real-world outcomes using several key factors.</a:t>
            </a:r>
            <a:endParaRPr b="0" i="0" sz="155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4"/>
          <p:cNvSpPr/>
          <p:nvPr/>
        </p:nvSpPr>
        <p:spPr>
          <a:xfrm>
            <a:off x="793790" y="2132290"/>
            <a:ext cx="9120188" cy="741759"/>
          </a:xfrm>
          <a:prstGeom prst="rect">
            <a:avLst/>
          </a:prstGeom>
          <a:noFill/>
          <a:ln>
            <a:noFill/>
          </a:ln>
        </p:spPr>
        <p:txBody>
          <a:bodyPr anchorCtr="0" anchor="t" bIns="0" lIns="0" spcFirstLastPara="1" rIns="0" wrap="square" tIns="0">
            <a:noAutofit/>
          </a:bodyPr>
          <a:lstStyle/>
          <a:p>
            <a:pPr indent="0" lvl="0" marL="0" marR="0" rtl="0" algn="l">
              <a:lnSpc>
                <a:spcPct val="130337"/>
              </a:lnSpc>
              <a:spcBef>
                <a:spcPts val="0"/>
              </a:spcBef>
              <a:spcAft>
                <a:spcPts val="0"/>
              </a:spcAft>
              <a:buClr>
                <a:srgbClr val="532418"/>
              </a:buClr>
              <a:buSzPts val="4450"/>
              <a:buFont typeface="Marcellus"/>
              <a:buNone/>
            </a:pPr>
            <a:r>
              <a:rPr b="0" i="0" lang="en-US" sz="4450" u="none" cap="none" strike="noStrike">
                <a:solidFill>
                  <a:srgbClr val="532418"/>
                </a:solidFill>
                <a:latin typeface="Marcellus"/>
                <a:ea typeface="Marcellus"/>
                <a:cs typeface="Marcellus"/>
                <a:sym typeface="Marcellus"/>
              </a:rPr>
              <a:t>What is Multiple Linear Regression?</a:t>
            </a:r>
            <a:endParaRPr b="0" i="0" sz="4450" u="none" cap="none" strike="noStrike"/>
          </a:p>
        </p:txBody>
      </p:sp>
      <p:sp>
        <p:nvSpPr>
          <p:cNvPr id="55" name="Google Shape;55;p14"/>
          <p:cNvSpPr/>
          <p:nvPr/>
        </p:nvSpPr>
        <p:spPr>
          <a:xfrm>
            <a:off x="793790" y="3370064"/>
            <a:ext cx="2852976" cy="370761"/>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Clr>
                <a:srgbClr val="532418"/>
              </a:buClr>
              <a:buSzPts val="2200"/>
              <a:buFont typeface="Marcellus"/>
              <a:buNone/>
            </a:pPr>
            <a:r>
              <a:rPr b="0" i="0" lang="en-US" sz="2200" u="none" cap="none" strike="noStrike">
                <a:solidFill>
                  <a:srgbClr val="532418"/>
                </a:solidFill>
                <a:latin typeface="Marcellus"/>
                <a:ea typeface="Marcellus"/>
                <a:cs typeface="Marcellus"/>
                <a:sym typeface="Marcellus"/>
              </a:rPr>
              <a:t>Defining MLR</a:t>
            </a:r>
            <a:endParaRPr b="0" i="0" sz="2200" u="none" cap="none" strike="noStrike"/>
          </a:p>
        </p:txBody>
      </p:sp>
      <p:sp>
        <p:nvSpPr>
          <p:cNvPr id="56" name="Google Shape;56;p14"/>
          <p:cNvSpPr/>
          <p:nvPr/>
        </p:nvSpPr>
        <p:spPr>
          <a:xfrm>
            <a:off x="793790" y="3939183"/>
            <a:ext cx="6279356" cy="774025"/>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Multiple Linear Regression (MLR) predicts a continuous outcome using several input factors simultaneously, instead of just one.</a:t>
            </a:r>
            <a:endParaRPr b="0" i="0" sz="1550" u="none" cap="none" strike="noStrike"/>
          </a:p>
        </p:txBody>
      </p:sp>
      <p:sp>
        <p:nvSpPr>
          <p:cNvPr id="57" name="Google Shape;57;p14"/>
          <p:cNvSpPr/>
          <p:nvPr/>
        </p:nvSpPr>
        <p:spPr>
          <a:xfrm>
            <a:off x="793790" y="4891802"/>
            <a:ext cx="6279356" cy="516017"/>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The model learns how important, or "weighted," each factor is to make an accurate prediction.</a:t>
            </a:r>
            <a:endParaRPr b="0" i="0" sz="1550" u="none" cap="none" strike="noStrike"/>
          </a:p>
        </p:txBody>
      </p:sp>
      <p:sp>
        <p:nvSpPr>
          <p:cNvPr id="58" name="Google Shape;58;p14"/>
          <p:cNvSpPr/>
          <p:nvPr/>
        </p:nvSpPr>
        <p:spPr>
          <a:xfrm>
            <a:off x="7564874" y="3370064"/>
            <a:ext cx="2902506" cy="370761"/>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Clr>
                <a:srgbClr val="532418"/>
              </a:buClr>
              <a:buSzPts val="2200"/>
              <a:buFont typeface="Marcellus"/>
              <a:buNone/>
            </a:pPr>
            <a:r>
              <a:rPr b="0" i="0" lang="en-US" sz="2200" u="none" cap="none" strike="noStrike">
                <a:solidFill>
                  <a:srgbClr val="532418"/>
                </a:solidFill>
                <a:latin typeface="Marcellus"/>
                <a:ea typeface="Marcellus"/>
                <a:cs typeface="Marcellus"/>
                <a:sym typeface="Marcellus"/>
              </a:rPr>
              <a:t>House Price Prediction</a:t>
            </a:r>
            <a:endParaRPr b="0" i="0" sz="2200" u="none" cap="none" strike="noStrike"/>
          </a:p>
        </p:txBody>
      </p:sp>
      <p:sp>
        <p:nvSpPr>
          <p:cNvPr id="59" name="Google Shape;59;p14"/>
          <p:cNvSpPr/>
          <p:nvPr/>
        </p:nvSpPr>
        <p:spPr>
          <a:xfrm>
            <a:off x="7564874" y="3939183"/>
            <a:ext cx="6279356" cy="516017"/>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Think about predicting a </a:t>
            </a:r>
            <a:r>
              <a:rPr b="1" i="0" lang="en-US" sz="1550" u="none" cap="none" strike="noStrike">
                <a:solidFill>
                  <a:srgbClr val="67534F"/>
                </a:solidFill>
                <a:latin typeface="Montserrat"/>
                <a:ea typeface="Montserrat"/>
                <a:cs typeface="Montserrat"/>
                <a:sym typeface="Montserrat"/>
              </a:rPr>
              <a:t>house price</a:t>
            </a:r>
            <a:r>
              <a:rPr b="0" i="0" lang="en-US" sz="1550" u="none" cap="none" strike="noStrike">
                <a:solidFill>
                  <a:srgbClr val="67534F"/>
                </a:solidFill>
                <a:latin typeface="Montserrat"/>
                <a:ea typeface="Montserrat"/>
                <a:cs typeface="Montserrat"/>
                <a:sym typeface="Montserrat"/>
              </a:rPr>
              <a:t>. Instead of just square footage, MLR considers multiple features like:</a:t>
            </a:r>
            <a:endParaRPr b="0" i="0" sz="1550" u="none" cap="none" strike="noStrike"/>
          </a:p>
        </p:txBody>
      </p:sp>
      <p:sp>
        <p:nvSpPr>
          <p:cNvPr id="60" name="Google Shape;60;p14"/>
          <p:cNvSpPr/>
          <p:nvPr/>
        </p:nvSpPr>
        <p:spPr>
          <a:xfrm>
            <a:off x="7564874" y="4633793"/>
            <a:ext cx="6279356" cy="258008"/>
          </a:xfrm>
          <a:prstGeom prst="rect">
            <a:avLst/>
          </a:prstGeom>
          <a:noFill/>
          <a:ln>
            <a:noFill/>
          </a:ln>
        </p:spPr>
        <p:txBody>
          <a:bodyPr anchorCtr="0" anchor="t" bIns="0" lIns="0" spcFirstLastPara="1" rIns="0" wrap="square" tIns="0">
            <a:noAutofit/>
          </a:bodyPr>
          <a:lstStyle/>
          <a:p>
            <a:pPr indent="-342900" lvl="0" marL="342900" marR="0" rtl="0" algn="l">
              <a:lnSpc>
                <a:spcPct val="129032"/>
              </a:lnSpc>
              <a:spcBef>
                <a:spcPts val="0"/>
              </a:spcBef>
              <a:spcAft>
                <a:spcPts val="0"/>
              </a:spcAft>
              <a:buClr>
                <a:srgbClr val="67534F"/>
              </a:buClr>
              <a:buSzPts val="1550"/>
              <a:buFont typeface="Montserrat"/>
              <a:buChar char="•"/>
            </a:pPr>
            <a:r>
              <a:rPr b="0" i="0" lang="en-US" sz="1550" u="none" cap="none" strike="noStrike">
                <a:solidFill>
                  <a:srgbClr val="67534F"/>
                </a:solidFill>
                <a:latin typeface="Montserrat"/>
                <a:ea typeface="Montserrat"/>
                <a:cs typeface="Montserrat"/>
                <a:sym typeface="Montserrat"/>
              </a:rPr>
              <a:t>Number of bedrooms</a:t>
            </a:r>
            <a:endParaRPr b="0" i="0" sz="1550" u="none" cap="none" strike="noStrike"/>
          </a:p>
        </p:txBody>
      </p:sp>
      <p:sp>
        <p:nvSpPr>
          <p:cNvPr id="61" name="Google Shape;61;p14"/>
          <p:cNvSpPr/>
          <p:nvPr/>
        </p:nvSpPr>
        <p:spPr>
          <a:xfrm>
            <a:off x="7564874" y="4961215"/>
            <a:ext cx="6279356" cy="258008"/>
          </a:xfrm>
          <a:prstGeom prst="rect">
            <a:avLst/>
          </a:prstGeom>
          <a:noFill/>
          <a:ln>
            <a:noFill/>
          </a:ln>
        </p:spPr>
        <p:txBody>
          <a:bodyPr anchorCtr="0" anchor="t" bIns="0" lIns="0" spcFirstLastPara="1" rIns="0" wrap="square" tIns="0">
            <a:noAutofit/>
          </a:bodyPr>
          <a:lstStyle/>
          <a:p>
            <a:pPr indent="-342900" lvl="0" marL="342900" marR="0" rtl="0" algn="l">
              <a:lnSpc>
                <a:spcPct val="129032"/>
              </a:lnSpc>
              <a:spcBef>
                <a:spcPts val="0"/>
              </a:spcBef>
              <a:spcAft>
                <a:spcPts val="0"/>
              </a:spcAft>
              <a:buClr>
                <a:srgbClr val="67534F"/>
              </a:buClr>
              <a:buSzPts val="1550"/>
              <a:buFont typeface="Montserrat"/>
              <a:buChar char="•"/>
            </a:pPr>
            <a:r>
              <a:rPr b="0" i="0" lang="en-US" sz="1550" u="none" cap="none" strike="noStrike">
                <a:solidFill>
                  <a:srgbClr val="67534F"/>
                </a:solidFill>
                <a:latin typeface="Montserrat"/>
                <a:ea typeface="Montserrat"/>
                <a:cs typeface="Montserrat"/>
                <a:sym typeface="Montserrat"/>
              </a:rPr>
              <a:t>Location (e.g., school district rating)</a:t>
            </a:r>
            <a:endParaRPr b="0" i="0" sz="1550" u="none" cap="none" strike="noStrike"/>
          </a:p>
        </p:txBody>
      </p:sp>
      <p:sp>
        <p:nvSpPr>
          <p:cNvPr id="62" name="Google Shape;62;p14"/>
          <p:cNvSpPr/>
          <p:nvPr/>
        </p:nvSpPr>
        <p:spPr>
          <a:xfrm>
            <a:off x="7564874" y="5288637"/>
            <a:ext cx="6279356" cy="258008"/>
          </a:xfrm>
          <a:prstGeom prst="rect">
            <a:avLst/>
          </a:prstGeom>
          <a:noFill/>
          <a:ln>
            <a:noFill/>
          </a:ln>
        </p:spPr>
        <p:txBody>
          <a:bodyPr anchorCtr="0" anchor="t" bIns="0" lIns="0" spcFirstLastPara="1" rIns="0" wrap="square" tIns="0">
            <a:noAutofit/>
          </a:bodyPr>
          <a:lstStyle/>
          <a:p>
            <a:pPr indent="-342900" lvl="0" marL="342900" marR="0" rtl="0" algn="l">
              <a:lnSpc>
                <a:spcPct val="129032"/>
              </a:lnSpc>
              <a:spcBef>
                <a:spcPts val="0"/>
              </a:spcBef>
              <a:spcAft>
                <a:spcPts val="0"/>
              </a:spcAft>
              <a:buClr>
                <a:srgbClr val="67534F"/>
              </a:buClr>
              <a:buSzPts val="1550"/>
              <a:buFont typeface="Montserrat"/>
              <a:buChar char="•"/>
            </a:pPr>
            <a:r>
              <a:rPr b="0" i="0" lang="en-US" sz="1550" u="none" cap="none" strike="noStrike">
                <a:solidFill>
                  <a:srgbClr val="67534F"/>
                </a:solidFill>
                <a:latin typeface="Montserrat"/>
                <a:ea typeface="Montserrat"/>
                <a:cs typeface="Montserrat"/>
                <a:sym typeface="Montserrat"/>
              </a:rPr>
              <a:t>Age of the house</a:t>
            </a:r>
            <a:endParaRPr b="0" i="0" sz="1550" u="none" cap="none" strike="noStrike"/>
          </a:p>
        </p:txBody>
      </p:sp>
      <p:sp>
        <p:nvSpPr>
          <p:cNvPr id="63" name="Google Shape;63;p14"/>
          <p:cNvSpPr/>
          <p:nvPr/>
        </p:nvSpPr>
        <p:spPr>
          <a:xfrm>
            <a:off x="793790" y="5839301"/>
            <a:ext cx="13042821"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Each column represents a different feature, like bedrooms or location, that helps predict the final outcome.</a:t>
            </a:r>
            <a:endParaRPr b="0" i="0" sz="155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p:nvPr/>
        </p:nvSpPr>
        <p:spPr>
          <a:xfrm>
            <a:off x="793790" y="1619369"/>
            <a:ext cx="9581198" cy="741759"/>
          </a:xfrm>
          <a:prstGeom prst="rect">
            <a:avLst/>
          </a:prstGeom>
          <a:noFill/>
          <a:ln>
            <a:noFill/>
          </a:ln>
        </p:spPr>
        <p:txBody>
          <a:bodyPr anchorCtr="0" anchor="t" bIns="0" lIns="0" spcFirstLastPara="1" rIns="0" wrap="square" tIns="0">
            <a:noAutofit/>
          </a:bodyPr>
          <a:lstStyle/>
          <a:p>
            <a:pPr indent="0" lvl="0" marL="0" marR="0" rtl="0" algn="l">
              <a:lnSpc>
                <a:spcPct val="130337"/>
              </a:lnSpc>
              <a:spcBef>
                <a:spcPts val="0"/>
              </a:spcBef>
              <a:spcAft>
                <a:spcPts val="0"/>
              </a:spcAft>
              <a:buClr>
                <a:srgbClr val="532418"/>
              </a:buClr>
              <a:buSzPts val="4450"/>
              <a:buFont typeface="Marcellus"/>
              <a:buNone/>
            </a:pPr>
            <a:r>
              <a:rPr b="0" i="0" lang="en-US" sz="4450" u="none" cap="none" strike="noStrike">
                <a:solidFill>
                  <a:srgbClr val="532418"/>
                </a:solidFill>
                <a:latin typeface="Marcellus"/>
                <a:ea typeface="Marcellus"/>
                <a:cs typeface="Marcellus"/>
                <a:sym typeface="Marcellus"/>
              </a:rPr>
              <a:t>Why Do We Need Multiple Features?</a:t>
            </a:r>
            <a:endParaRPr b="0" i="0" sz="4450" u="none" cap="none" strike="noStrike"/>
          </a:p>
        </p:txBody>
      </p:sp>
      <p:sp>
        <p:nvSpPr>
          <p:cNvPr id="70" name="Google Shape;70;p15"/>
          <p:cNvSpPr/>
          <p:nvPr/>
        </p:nvSpPr>
        <p:spPr>
          <a:xfrm>
            <a:off x="793790" y="2757964"/>
            <a:ext cx="13042821" cy="516017"/>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Real-world outcomes are complex. Predicting them accurately often requires more than just one piece of information. Think about predicting house prices:</a:t>
            </a:r>
            <a:endParaRPr b="0" i="0" sz="1550" u="none" cap="none" strike="noStrike"/>
          </a:p>
        </p:txBody>
      </p:sp>
      <p:pic>
        <p:nvPicPr>
          <p:cNvPr descr="preencoded.png" id="71" name="Google Shape;71;p15"/>
          <p:cNvPicPr preferRelativeResize="0"/>
          <p:nvPr/>
        </p:nvPicPr>
        <p:blipFill rotWithShape="1">
          <a:blip r:embed="rId3">
            <a:alphaModFix/>
          </a:blip>
          <a:srcRect b="0" l="0" r="0" t="0"/>
          <a:stretch/>
        </p:blipFill>
        <p:spPr>
          <a:xfrm>
            <a:off x="793790" y="3497223"/>
            <a:ext cx="496133" cy="496133"/>
          </a:xfrm>
          <a:prstGeom prst="rect">
            <a:avLst/>
          </a:prstGeom>
          <a:noFill/>
          <a:ln>
            <a:noFill/>
          </a:ln>
        </p:spPr>
      </p:pic>
      <p:sp>
        <p:nvSpPr>
          <p:cNvPr id="72" name="Google Shape;72;p15"/>
          <p:cNvSpPr/>
          <p:nvPr/>
        </p:nvSpPr>
        <p:spPr>
          <a:xfrm>
            <a:off x="1537930" y="3608784"/>
            <a:ext cx="2852976" cy="370761"/>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Clr>
                <a:srgbClr val="67534F"/>
              </a:buClr>
              <a:buSzPts val="2200"/>
              <a:buFont typeface="Marcellus"/>
              <a:buNone/>
            </a:pPr>
            <a:r>
              <a:rPr b="0" i="0" lang="en-US" sz="2200" u="none" cap="none" strike="noStrike">
                <a:solidFill>
                  <a:srgbClr val="67534F"/>
                </a:solidFill>
                <a:latin typeface="Marcellus"/>
                <a:ea typeface="Marcellus"/>
                <a:cs typeface="Marcellus"/>
                <a:sym typeface="Marcellus"/>
              </a:rPr>
              <a:t>Local Economy</a:t>
            </a:r>
            <a:endParaRPr b="0" i="0" sz="2200" u="none" cap="none" strike="noStrike"/>
          </a:p>
        </p:txBody>
      </p:sp>
      <p:sp>
        <p:nvSpPr>
          <p:cNvPr id="73" name="Google Shape;73;p15"/>
          <p:cNvSpPr/>
          <p:nvPr/>
        </p:nvSpPr>
        <p:spPr>
          <a:xfrm>
            <a:off x="1537930" y="4098608"/>
            <a:ext cx="5653207"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Local income levels directly impact property values.</a:t>
            </a:r>
            <a:endParaRPr b="0" i="0" sz="1550" u="none" cap="none" strike="noStrike"/>
          </a:p>
        </p:txBody>
      </p:sp>
      <p:pic>
        <p:nvPicPr>
          <p:cNvPr descr="preencoded.png" id="74" name="Google Shape;74;p15"/>
          <p:cNvPicPr preferRelativeResize="0"/>
          <p:nvPr/>
        </p:nvPicPr>
        <p:blipFill rotWithShape="1">
          <a:blip r:embed="rId4">
            <a:alphaModFix/>
          </a:blip>
          <a:srcRect b="0" l="0" r="0" t="0"/>
          <a:stretch/>
        </p:blipFill>
        <p:spPr>
          <a:xfrm>
            <a:off x="7439144" y="3497223"/>
            <a:ext cx="496133" cy="496133"/>
          </a:xfrm>
          <a:prstGeom prst="rect">
            <a:avLst/>
          </a:prstGeom>
          <a:noFill/>
          <a:ln>
            <a:noFill/>
          </a:ln>
        </p:spPr>
      </p:pic>
      <p:sp>
        <p:nvSpPr>
          <p:cNvPr id="75" name="Google Shape;75;p15"/>
          <p:cNvSpPr/>
          <p:nvPr/>
        </p:nvSpPr>
        <p:spPr>
          <a:xfrm>
            <a:off x="8183285" y="3608784"/>
            <a:ext cx="2852976" cy="370761"/>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Clr>
                <a:srgbClr val="67534F"/>
              </a:buClr>
              <a:buSzPts val="2200"/>
              <a:buFont typeface="Marcellus"/>
              <a:buNone/>
            </a:pPr>
            <a:r>
              <a:rPr b="0" i="0" lang="en-US" sz="2200" u="none" cap="none" strike="noStrike">
                <a:solidFill>
                  <a:srgbClr val="67534F"/>
                </a:solidFill>
                <a:latin typeface="Marcellus"/>
                <a:ea typeface="Marcellus"/>
                <a:cs typeface="Marcellus"/>
                <a:sym typeface="Marcellus"/>
              </a:rPr>
              <a:t>Home Age</a:t>
            </a:r>
            <a:endParaRPr b="0" i="0" sz="2200" u="none" cap="none" strike="noStrike"/>
          </a:p>
        </p:txBody>
      </p:sp>
      <p:sp>
        <p:nvSpPr>
          <p:cNvPr id="76" name="Google Shape;76;p15"/>
          <p:cNvSpPr/>
          <p:nvPr/>
        </p:nvSpPr>
        <p:spPr>
          <a:xfrm>
            <a:off x="8183285" y="4098608"/>
            <a:ext cx="5653326" cy="516017"/>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Newer homes generally sell for more; older ones might need updates.</a:t>
            </a:r>
            <a:endParaRPr b="0" i="0" sz="1550" u="none" cap="none" strike="noStrike"/>
          </a:p>
        </p:txBody>
      </p:sp>
      <p:pic>
        <p:nvPicPr>
          <p:cNvPr descr="preencoded.png" id="77" name="Google Shape;77;p15"/>
          <p:cNvPicPr preferRelativeResize="0"/>
          <p:nvPr/>
        </p:nvPicPr>
        <p:blipFill rotWithShape="1">
          <a:blip r:embed="rId5">
            <a:alphaModFix/>
          </a:blip>
          <a:srcRect b="0" l="0" r="0" t="0"/>
          <a:stretch/>
        </p:blipFill>
        <p:spPr>
          <a:xfrm>
            <a:off x="793790" y="5011460"/>
            <a:ext cx="496133" cy="496133"/>
          </a:xfrm>
          <a:prstGeom prst="rect">
            <a:avLst/>
          </a:prstGeom>
          <a:noFill/>
          <a:ln>
            <a:noFill/>
          </a:ln>
        </p:spPr>
      </p:pic>
      <p:sp>
        <p:nvSpPr>
          <p:cNvPr id="78" name="Google Shape;78;p15"/>
          <p:cNvSpPr/>
          <p:nvPr/>
        </p:nvSpPr>
        <p:spPr>
          <a:xfrm>
            <a:off x="1537930" y="5123021"/>
            <a:ext cx="2852976" cy="370761"/>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Clr>
                <a:srgbClr val="67534F"/>
              </a:buClr>
              <a:buSzPts val="2200"/>
              <a:buFont typeface="Marcellus"/>
              <a:buNone/>
            </a:pPr>
            <a:r>
              <a:rPr b="0" i="0" lang="en-US" sz="2200" u="none" cap="none" strike="noStrike">
                <a:solidFill>
                  <a:srgbClr val="67534F"/>
                </a:solidFill>
                <a:latin typeface="Marcellus"/>
                <a:ea typeface="Marcellus"/>
                <a:cs typeface="Marcellus"/>
                <a:sym typeface="Marcellus"/>
              </a:rPr>
              <a:t>Size &amp; Rooms</a:t>
            </a:r>
            <a:endParaRPr b="0" i="0" sz="2200" u="none" cap="none" strike="noStrike"/>
          </a:p>
        </p:txBody>
      </p:sp>
      <p:sp>
        <p:nvSpPr>
          <p:cNvPr id="79" name="Google Shape;79;p15"/>
          <p:cNvSpPr/>
          <p:nvPr/>
        </p:nvSpPr>
        <p:spPr>
          <a:xfrm>
            <a:off x="1537930" y="5612844"/>
            <a:ext cx="5653207" cy="516017"/>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More bedrooms and living space usually mean higher prices.</a:t>
            </a:r>
            <a:endParaRPr b="0" i="0" sz="1550" u="none" cap="none" strike="noStrike"/>
          </a:p>
        </p:txBody>
      </p:sp>
      <p:pic>
        <p:nvPicPr>
          <p:cNvPr descr="preencoded.png" id="80" name="Google Shape;80;p15"/>
          <p:cNvPicPr preferRelativeResize="0"/>
          <p:nvPr/>
        </p:nvPicPr>
        <p:blipFill rotWithShape="1">
          <a:blip r:embed="rId6">
            <a:alphaModFix/>
          </a:blip>
          <a:srcRect b="0" l="0" r="0" t="0"/>
          <a:stretch/>
        </p:blipFill>
        <p:spPr>
          <a:xfrm>
            <a:off x="7439144" y="5011460"/>
            <a:ext cx="496133" cy="496133"/>
          </a:xfrm>
          <a:prstGeom prst="rect">
            <a:avLst/>
          </a:prstGeom>
          <a:noFill/>
          <a:ln>
            <a:noFill/>
          </a:ln>
        </p:spPr>
      </p:pic>
      <p:sp>
        <p:nvSpPr>
          <p:cNvPr id="81" name="Google Shape;81;p15"/>
          <p:cNvSpPr/>
          <p:nvPr/>
        </p:nvSpPr>
        <p:spPr>
          <a:xfrm>
            <a:off x="8183285" y="5123021"/>
            <a:ext cx="2852976" cy="370761"/>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Clr>
                <a:srgbClr val="67534F"/>
              </a:buClr>
              <a:buSzPts val="2200"/>
              <a:buFont typeface="Marcellus"/>
              <a:buNone/>
            </a:pPr>
            <a:r>
              <a:rPr b="0" i="0" lang="en-US" sz="2200" u="none" cap="none" strike="noStrike">
                <a:solidFill>
                  <a:srgbClr val="67534F"/>
                </a:solidFill>
                <a:latin typeface="Marcellus"/>
                <a:ea typeface="Marcellus"/>
                <a:cs typeface="Marcellus"/>
                <a:sym typeface="Marcellus"/>
              </a:rPr>
              <a:t>Neighborhood</a:t>
            </a:r>
            <a:endParaRPr b="0" i="0" sz="2200" u="none" cap="none" strike="noStrike"/>
          </a:p>
        </p:txBody>
      </p:sp>
      <p:sp>
        <p:nvSpPr>
          <p:cNvPr id="82" name="Google Shape;82;p15"/>
          <p:cNvSpPr/>
          <p:nvPr/>
        </p:nvSpPr>
        <p:spPr>
          <a:xfrm>
            <a:off x="8183285" y="5612844"/>
            <a:ext cx="5653326"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Demand and amenities in the area affect market value.</a:t>
            </a:r>
            <a:endParaRPr b="0" i="0" sz="1550" u="none" cap="none" strike="noStrike"/>
          </a:p>
        </p:txBody>
      </p:sp>
      <p:sp>
        <p:nvSpPr>
          <p:cNvPr id="83" name="Google Shape;83;p15"/>
          <p:cNvSpPr/>
          <p:nvPr/>
        </p:nvSpPr>
        <p:spPr>
          <a:xfrm>
            <a:off x="793790" y="6352103"/>
            <a:ext cx="13042821"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By combining these details, we get a far more accurate and reliable house price prediction than relying on any single factor.</a:t>
            </a:r>
            <a:endParaRPr b="0" i="0" sz="155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p:nvPr/>
        </p:nvSpPr>
        <p:spPr>
          <a:xfrm>
            <a:off x="621387" y="427196"/>
            <a:ext cx="6237684" cy="580549"/>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32418"/>
              </a:buClr>
              <a:buSzPts val="3500"/>
              <a:buFont typeface="Marcellus"/>
              <a:buNone/>
            </a:pPr>
            <a:r>
              <a:rPr b="0" i="0" lang="en-US" sz="3500" u="none" cap="none" strike="noStrike">
                <a:solidFill>
                  <a:srgbClr val="532418"/>
                </a:solidFill>
                <a:latin typeface="Marcellus"/>
                <a:ea typeface="Marcellus"/>
                <a:cs typeface="Marcellus"/>
                <a:sym typeface="Marcellus"/>
              </a:rPr>
              <a:t>The California Housing Dataset</a:t>
            </a:r>
            <a:endParaRPr b="0" i="0" sz="3500" u="none" cap="none" strike="noStrike"/>
          </a:p>
        </p:txBody>
      </p:sp>
      <p:sp>
        <p:nvSpPr>
          <p:cNvPr id="90" name="Google Shape;90;p16"/>
          <p:cNvSpPr/>
          <p:nvPr/>
        </p:nvSpPr>
        <p:spPr>
          <a:xfrm>
            <a:off x="621387" y="1318379"/>
            <a:ext cx="6616184" cy="1547574"/>
          </a:xfrm>
          <a:prstGeom prst="roundRect">
            <a:avLst>
              <a:gd fmla="val 4216" name="adj"/>
            </a:avLst>
          </a:prstGeom>
          <a:solidFill>
            <a:srgbClr val="FFFFF4"/>
          </a:solidFill>
          <a:ln cap="flat" cmpd="sng" w="15225">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6"/>
          <p:cNvSpPr/>
          <p:nvPr/>
        </p:nvSpPr>
        <p:spPr>
          <a:xfrm>
            <a:off x="791885" y="1488877"/>
            <a:ext cx="466011" cy="466011"/>
          </a:xfrm>
          <a:prstGeom prst="roundRect">
            <a:avLst>
              <a:gd fmla="val 19619892" name="adj"/>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2" name="Google Shape;92;p16"/>
          <p:cNvPicPr preferRelativeResize="0"/>
          <p:nvPr/>
        </p:nvPicPr>
        <p:blipFill rotWithShape="1">
          <a:blip r:embed="rId3">
            <a:alphaModFix/>
          </a:blip>
          <a:srcRect b="0" l="0" r="0" t="0"/>
          <a:stretch/>
        </p:blipFill>
        <p:spPr>
          <a:xfrm>
            <a:off x="919996" y="1616988"/>
            <a:ext cx="209669" cy="209669"/>
          </a:xfrm>
          <a:prstGeom prst="rect">
            <a:avLst/>
          </a:prstGeom>
          <a:noFill/>
          <a:ln>
            <a:noFill/>
          </a:ln>
        </p:spPr>
      </p:pic>
      <p:sp>
        <p:nvSpPr>
          <p:cNvPr id="93" name="Google Shape;93;p16"/>
          <p:cNvSpPr/>
          <p:nvPr/>
        </p:nvSpPr>
        <p:spPr>
          <a:xfrm>
            <a:off x="791885" y="2110145"/>
            <a:ext cx="2233136" cy="290274"/>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67534F"/>
              </a:buClr>
              <a:buSzPts val="1750"/>
              <a:buFont typeface="Marcellus"/>
              <a:buNone/>
            </a:pPr>
            <a:r>
              <a:rPr b="0" i="0" lang="en-US" sz="1750" u="none" cap="none" strike="noStrike">
                <a:solidFill>
                  <a:srgbClr val="67534F"/>
                </a:solidFill>
                <a:latin typeface="Marcellus"/>
                <a:ea typeface="Marcellus"/>
                <a:cs typeface="Marcellus"/>
                <a:sym typeface="Marcellus"/>
              </a:rPr>
              <a:t>MedInc</a:t>
            </a:r>
            <a:endParaRPr b="0" i="0" sz="1750" u="none" cap="none" strike="noStrike"/>
          </a:p>
        </p:txBody>
      </p:sp>
      <p:sp>
        <p:nvSpPr>
          <p:cNvPr id="94" name="Google Shape;94;p16"/>
          <p:cNvSpPr/>
          <p:nvPr/>
        </p:nvSpPr>
        <p:spPr>
          <a:xfrm>
            <a:off x="791885" y="2493526"/>
            <a:ext cx="6275189" cy="201930"/>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67534F"/>
              </a:buClr>
              <a:buSzPts val="1200"/>
              <a:buFont typeface="Montserrat"/>
              <a:buNone/>
            </a:pPr>
            <a:r>
              <a:rPr b="0" i="0" lang="en-US" sz="1200" u="none" cap="none" strike="noStrike">
                <a:solidFill>
                  <a:srgbClr val="67534F"/>
                </a:solidFill>
                <a:latin typeface="Montserrat"/>
                <a:ea typeface="Montserrat"/>
                <a:cs typeface="Montserrat"/>
                <a:sym typeface="Montserrat"/>
              </a:rPr>
              <a:t>Median income in block</a:t>
            </a:r>
            <a:endParaRPr b="0" i="0" sz="1200" u="none" cap="none" strike="noStrike"/>
          </a:p>
        </p:txBody>
      </p:sp>
      <p:sp>
        <p:nvSpPr>
          <p:cNvPr id="95" name="Google Shape;95;p16"/>
          <p:cNvSpPr/>
          <p:nvPr/>
        </p:nvSpPr>
        <p:spPr>
          <a:xfrm>
            <a:off x="7392829" y="1318379"/>
            <a:ext cx="6616184" cy="1547574"/>
          </a:xfrm>
          <a:prstGeom prst="roundRect">
            <a:avLst>
              <a:gd fmla="val 4216" name="adj"/>
            </a:avLst>
          </a:prstGeom>
          <a:solidFill>
            <a:srgbClr val="FFFFF4"/>
          </a:solidFill>
          <a:ln cap="flat" cmpd="sng" w="15225">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6"/>
          <p:cNvSpPr/>
          <p:nvPr/>
        </p:nvSpPr>
        <p:spPr>
          <a:xfrm>
            <a:off x="7563326" y="1488877"/>
            <a:ext cx="466011" cy="466011"/>
          </a:xfrm>
          <a:prstGeom prst="roundRect">
            <a:avLst>
              <a:gd fmla="val 19619892" name="adj"/>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7" name="Google Shape;97;p16"/>
          <p:cNvPicPr preferRelativeResize="0"/>
          <p:nvPr/>
        </p:nvPicPr>
        <p:blipFill rotWithShape="1">
          <a:blip r:embed="rId4">
            <a:alphaModFix/>
          </a:blip>
          <a:srcRect b="0" l="0" r="0" t="0"/>
          <a:stretch/>
        </p:blipFill>
        <p:spPr>
          <a:xfrm>
            <a:off x="7691438" y="1616988"/>
            <a:ext cx="209669" cy="209669"/>
          </a:xfrm>
          <a:prstGeom prst="rect">
            <a:avLst/>
          </a:prstGeom>
          <a:noFill/>
          <a:ln>
            <a:noFill/>
          </a:ln>
        </p:spPr>
      </p:pic>
      <p:sp>
        <p:nvSpPr>
          <p:cNvPr id="98" name="Google Shape;98;p16"/>
          <p:cNvSpPr/>
          <p:nvPr/>
        </p:nvSpPr>
        <p:spPr>
          <a:xfrm>
            <a:off x="7563326" y="2110145"/>
            <a:ext cx="2233136" cy="290274"/>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67534F"/>
              </a:buClr>
              <a:buSzPts val="1750"/>
              <a:buFont typeface="Marcellus"/>
              <a:buNone/>
            </a:pPr>
            <a:r>
              <a:rPr b="0" i="0" lang="en-US" sz="1750" u="none" cap="none" strike="noStrike">
                <a:solidFill>
                  <a:srgbClr val="67534F"/>
                </a:solidFill>
                <a:latin typeface="Marcellus"/>
                <a:ea typeface="Marcellus"/>
                <a:cs typeface="Marcellus"/>
                <a:sym typeface="Marcellus"/>
              </a:rPr>
              <a:t>HouseAge</a:t>
            </a:r>
            <a:endParaRPr b="0" i="0" sz="1750" u="none" cap="none" strike="noStrike"/>
          </a:p>
        </p:txBody>
      </p:sp>
      <p:sp>
        <p:nvSpPr>
          <p:cNvPr id="99" name="Google Shape;99;p16"/>
          <p:cNvSpPr/>
          <p:nvPr/>
        </p:nvSpPr>
        <p:spPr>
          <a:xfrm>
            <a:off x="7563326" y="2493526"/>
            <a:ext cx="6275189" cy="201930"/>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67534F"/>
              </a:buClr>
              <a:buSzPts val="1200"/>
              <a:buFont typeface="Montserrat"/>
              <a:buNone/>
            </a:pPr>
            <a:r>
              <a:rPr b="0" i="0" lang="en-US" sz="1200" u="none" cap="none" strike="noStrike">
                <a:solidFill>
                  <a:srgbClr val="67534F"/>
                </a:solidFill>
                <a:latin typeface="Montserrat"/>
                <a:ea typeface="Montserrat"/>
                <a:cs typeface="Montserrat"/>
                <a:sym typeface="Montserrat"/>
              </a:rPr>
              <a:t>Median house age</a:t>
            </a:r>
            <a:endParaRPr b="0" i="0" sz="1200" u="none" cap="none" strike="noStrike"/>
          </a:p>
        </p:txBody>
      </p:sp>
      <p:sp>
        <p:nvSpPr>
          <p:cNvPr id="100" name="Google Shape;100;p16"/>
          <p:cNvSpPr/>
          <p:nvPr/>
        </p:nvSpPr>
        <p:spPr>
          <a:xfrm>
            <a:off x="621387" y="3021211"/>
            <a:ext cx="6616184" cy="1547574"/>
          </a:xfrm>
          <a:prstGeom prst="roundRect">
            <a:avLst>
              <a:gd fmla="val 4216" name="adj"/>
            </a:avLst>
          </a:prstGeom>
          <a:solidFill>
            <a:srgbClr val="FFFFF4"/>
          </a:solidFill>
          <a:ln cap="flat" cmpd="sng" w="15225">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6"/>
          <p:cNvSpPr/>
          <p:nvPr/>
        </p:nvSpPr>
        <p:spPr>
          <a:xfrm>
            <a:off x="791885" y="3191708"/>
            <a:ext cx="466011" cy="466011"/>
          </a:xfrm>
          <a:prstGeom prst="roundRect">
            <a:avLst>
              <a:gd fmla="val 19619892" name="adj"/>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2" name="Google Shape;102;p16"/>
          <p:cNvPicPr preferRelativeResize="0"/>
          <p:nvPr/>
        </p:nvPicPr>
        <p:blipFill rotWithShape="1">
          <a:blip r:embed="rId5">
            <a:alphaModFix/>
          </a:blip>
          <a:srcRect b="0" l="0" r="0" t="0"/>
          <a:stretch/>
        </p:blipFill>
        <p:spPr>
          <a:xfrm>
            <a:off x="919996" y="3319820"/>
            <a:ext cx="209669" cy="209669"/>
          </a:xfrm>
          <a:prstGeom prst="rect">
            <a:avLst/>
          </a:prstGeom>
          <a:noFill/>
          <a:ln>
            <a:noFill/>
          </a:ln>
        </p:spPr>
      </p:pic>
      <p:sp>
        <p:nvSpPr>
          <p:cNvPr id="103" name="Google Shape;103;p16"/>
          <p:cNvSpPr/>
          <p:nvPr/>
        </p:nvSpPr>
        <p:spPr>
          <a:xfrm>
            <a:off x="791885" y="3812977"/>
            <a:ext cx="2233136" cy="290274"/>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67534F"/>
              </a:buClr>
              <a:buSzPts val="1750"/>
              <a:buFont typeface="Marcellus"/>
              <a:buNone/>
            </a:pPr>
            <a:r>
              <a:rPr b="0" i="0" lang="en-US" sz="1750" u="none" cap="none" strike="noStrike">
                <a:solidFill>
                  <a:srgbClr val="67534F"/>
                </a:solidFill>
                <a:latin typeface="Marcellus"/>
                <a:ea typeface="Marcellus"/>
                <a:cs typeface="Marcellus"/>
                <a:sym typeface="Marcellus"/>
              </a:rPr>
              <a:t>AveRooms</a:t>
            </a:r>
            <a:endParaRPr b="0" i="0" sz="1750" u="none" cap="none" strike="noStrike"/>
          </a:p>
        </p:txBody>
      </p:sp>
      <p:sp>
        <p:nvSpPr>
          <p:cNvPr id="104" name="Google Shape;104;p16"/>
          <p:cNvSpPr/>
          <p:nvPr/>
        </p:nvSpPr>
        <p:spPr>
          <a:xfrm>
            <a:off x="791885" y="4196358"/>
            <a:ext cx="6275189" cy="201930"/>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67534F"/>
              </a:buClr>
              <a:buSzPts val="1200"/>
              <a:buFont typeface="Montserrat"/>
              <a:buNone/>
            </a:pPr>
            <a:r>
              <a:rPr b="0" i="0" lang="en-US" sz="1200" u="none" cap="none" strike="noStrike">
                <a:solidFill>
                  <a:srgbClr val="67534F"/>
                </a:solidFill>
                <a:latin typeface="Montserrat"/>
                <a:ea typeface="Montserrat"/>
                <a:cs typeface="Montserrat"/>
                <a:sym typeface="Montserrat"/>
              </a:rPr>
              <a:t>Average rooms per household</a:t>
            </a:r>
            <a:endParaRPr b="0" i="0" sz="1200" u="none" cap="none" strike="noStrike"/>
          </a:p>
        </p:txBody>
      </p:sp>
      <p:sp>
        <p:nvSpPr>
          <p:cNvPr id="105" name="Google Shape;105;p16"/>
          <p:cNvSpPr/>
          <p:nvPr/>
        </p:nvSpPr>
        <p:spPr>
          <a:xfrm>
            <a:off x="7392829" y="3021211"/>
            <a:ext cx="6616184" cy="1547574"/>
          </a:xfrm>
          <a:prstGeom prst="roundRect">
            <a:avLst>
              <a:gd fmla="val 4216" name="adj"/>
            </a:avLst>
          </a:prstGeom>
          <a:solidFill>
            <a:srgbClr val="FFFFF4"/>
          </a:solidFill>
          <a:ln cap="flat" cmpd="sng" w="15225">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6"/>
          <p:cNvSpPr/>
          <p:nvPr/>
        </p:nvSpPr>
        <p:spPr>
          <a:xfrm>
            <a:off x="7563326" y="3191708"/>
            <a:ext cx="466011" cy="466011"/>
          </a:xfrm>
          <a:prstGeom prst="roundRect">
            <a:avLst>
              <a:gd fmla="val 19619892" name="adj"/>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7" name="Google Shape;107;p16"/>
          <p:cNvPicPr preferRelativeResize="0"/>
          <p:nvPr/>
        </p:nvPicPr>
        <p:blipFill rotWithShape="1">
          <a:blip r:embed="rId6">
            <a:alphaModFix/>
          </a:blip>
          <a:srcRect b="0" l="0" r="0" t="0"/>
          <a:stretch/>
        </p:blipFill>
        <p:spPr>
          <a:xfrm>
            <a:off x="7691438" y="3319820"/>
            <a:ext cx="209669" cy="209669"/>
          </a:xfrm>
          <a:prstGeom prst="rect">
            <a:avLst/>
          </a:prstGeom>
          <a:noFill/>
          <a:ln>
            <a:noFill/>
          </a:ln>
        </p:spPr>
      </p:pic>
      <p:sp>
        <p:nvSpPr>
          <p:cNvPr id="108" name="Google Shape;108;p16"/>
          <p:cNvSpPr/>
          <p:nvPr/>
        </p:nvSpPr>
        <p:spPr>
          <a:xfrm>
            <a:off x="7563326" y="3812977"/>
            <a:ext cx="2233136" cy="290274"/>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67534F"/>
              </a:buClr>
              <a:buSzPts val="1750"/>
              <a:buFont typeface="Marcellus"/>
              <a:buNone/>
            </a:pPr>
            <a:r>
              <a:rPr b="0" i="0" lang="en-US" sz="1750" u="none" cap="none" strike="noStrike">
                <a:solidFill>
                  <a:srgbClr val="67534F"/>
                </a:solidFill>
                <a:latin typeface="Marcellus"/>
                <a:ea typeface="Marcellus"/>
                <a:cs typeface="Marcellus"/>
                <a:sym typeface="Marcellus"/>
              </a:rPr>
              <a:t>AveBedrms</a:t>
            </a:r>
            <a:endParaRPr b="0" i="0" sz="1750" u="none" cap="none" strike="noStrike"/>
          </a:p>
        </p:txBody>
      </p:sp>
      <p:sp>
        <p:nvSpPr>
          <p:cNvPr id="109" name="Google Shape;109;p16"/>
          <p:cNvSpPr/>
          <p:nvPr/>
        </p:nvSpPr>
        <p:spPr>
          <a:xfrm>
            <a:off x="7563326" y="4196358"/>
            <a:ext cx="6275189" cy="201930"/>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67534F"/>
              </a:buClr>
              <a:buSzPts val="1200"/>
              <a:buFont typeface="Montserrat"/>
              <a:buNone/>
            </a:pPr>
            <a:r>
              <a:rPr b="0" i="0" lang="en-US" sz="1200" u="none" cap="none" strike="noStrike">
                <a:solidFill>
                  <a:srgbClr val="67534F"/>
                </a:solidFill>
                <a:latin typeface="Montserrat"/>
                <a:ea typeface="Montserrat"/>
                <a:cs typeface="Montserrat"/>
                <a:sym typeface="Montserrat"/>
              </a:rPr>
              <a:t>Average bedrooms per household</a:t>
            </a:r>
            <a:endParaRPr b="0" i="0" sz="1200" u="none" cap="none" strike="noStrike"/>
          </a:p>
        </p:txBody>
      </p:sp>
      <p:sp>
        <p:nvSpPr>
          <p:cNvPr id="110" name="Google Shape;110;p16"/>
          <p:cNvSpPr/>
          <p:nvPr/>
        </p:nvSpPr>
        <p:spPr>
          <a:xfrm>
            <a:off x="621387" y="4724043"/>
            <a:ext cx="6616184" cy="1547574"/>
          </a:xfrm>
          <a:prstGeom prst="roundRect">
            <a:avLst>
              <a:gd fmla="val 4216" name="adj"/>
            </a:avLst>
          </a:prstGeom>
          <a:solidFill>
            <a:srgbClr val="FFFFF4"/>
          </a:solidFill>
          <a:ln cap="flat" cmpd="sng" w="15225">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6"/>
          <p:cNvSpPr/>
          <p:nvPr/>
        </p:nvSpPr>
        <p:spPr>
          <a:xfrm>
            <a:off x="791885" y="4894540"/>
            <a:ext cx="466011" cy="466011"/>
          </a:xfrm>
          <a:prstGeom prst="roundRect">
            <a:avLst>
              <a:gd fmla="val 19619892" name="adj"/>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2" name="Google Shape;112;p16"/>
          <p:cNvPicPr preferRelativeResize="0"/>
          <p:nvPr/>
        </p:nvPicPr>
        <p:blipFill rotWithShape="1">
          <a:blip r:embed="rId7">
            <a:alphaModFix/>
          </a:blip>
          <a:srcRect b="0" l="0" r="0" t="0"/>
          <a:stretch/>
        </p:blipFill>
        <p:spPr>
          <a:xfrm>
            <a:off x="919996" y="5022652"/>
            <a:ext cx="209669" cy="209669"/>
          </a:xfrm>
          <a:prstGeom prst="rect">
            <a:avLst/>
          </a:prstGeom>
          <a:noFill/>
          <a:ln>
            <a:noFill/>
          </a:ln>
        </p:spPr>
      </p:pic>
      <p:sp>
        <p:nvSpPr>
          <p:cNvPr id="113" name="Google Shape;113;p16"/>
          <p:cNvSpPr/>
          <p:nvPr/>
        </p:nvSpPr>
        <p:spPr>
          <a:xfrm>
            <a:off x="791885" y="5515808"/>
            <a:ext cx="2233136" cy="290274"/>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67534F"/>
              </a:buClr>
              <a:buSzPts val="1750"/>
              <a:buFont typeface="Marcellus"/>
              <a:buNone/>
            </a:pPr>
            <a:r>
              <a:rPr b="0" i="0" lang="en-US" sz="1750" u="none" cap="none" strike="noStrike">
                <a:solidFill>
                  <a:srgbClr val="67534F"/>
                </a:solidFill>
                <a:latin typeface="Marcellus"/>
                <a:ea typeface="Marcellus"/>
                <a:cs typeface="Marcellus"/>
                <a:sym typeface="Marcellus"/>
              </a:rPr>
              <a:t>Population</a:t>
            </a:r>
            <a:endParaRPr b="0" i="0" sz="1750" u="none" cap="none" strike="noStrike"/>
          </a:p>
        </p:txBody>
      </p:sp>
      <p:sp>
        <p:nvSpPr>
          <p:cNvPr id="114" name="Google Shape;114;p16"/>
          <p:cNvSpPr/>
          <p:nvPr/>
        </p:nvSpPr>
        <p:spPr>
          <a:xfrm>
            <a:off x="791885" y="5899190"/>
            <a:ext cx="6275189" cy="201930"/>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67534F"/>
              </a:buClr>
              <a:buSzPts val="1200"/>
              <a:buFont typeface="Montserrat"/>
              <a:buNone/>
            </a:pPr>
            <a:r>
              <a:rPr b="0" i="0" lang="en-US" sz="1200" u="none" cap="none" strike="noStrike">
                <a:solidFill>
                  <a:srgbClr val="67534F"/>
                </a:solidFill>
                <a:latin typeface="Montserrat"/>
                <a:ea typeface="Montserrat"/>
                <a:cs typeface="Montserrat"/>
                <a:sym typeface="Montserrat"/>
              </a:rPr>
              <a:t>Block group population</a:t>
            </a:r>
            <a:endParaRPr b="0" i="0" sz="1200" u="none" cap="none" strike="noStrike"/>
          </a:p>
        </p:txBody>
      </p:sp>
      <p:sp>
        <p:nvSpPr>
          <p:cNvPr id="115" name="Google Shape;115;p16"/>
          <p:cNvSpPr/>
          <p:nvPr/>
        </p:nvSpPr>
        <p:spPr>
          <a:xfrm>
            <a:off x="7392829" y="4724043"/>
            <a:ext cx="6616184" cy="1547574"/>
          </a:xfrm>
          <a:prstGeom prst="roundRect">
            <a:avLst>
              <a:gd fmla="val 4216" name="adj"/>
            </a:avLst>
          </a:prstGeom>
          <a:solidFill>
            <a:srgbClr val="FFFFF4"/>
          </a:solidFill>
          <a:ln cap="flat" cmpd="sng" w="15225">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6"/>
          <p:cNvSpPr/>
          <p:nvPr/>
        </p:nvSpPr>
        <p:spPr>
          <a:xfrm>
            <a:off x="7563326" y="4894540"/>
            <a:ext cx="466011" cy="466011"/>
          </a:xfrm>
          <a:prstGeom prst="roundRect">
            <a:avLst>
              <a:gd fmla="val 19619892" name="adj"/>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7" name="Google Shape;117;p16"/>
          <p:cNvPicPr preferRelativeResize="0"/>
          <p:nvPr/>
        </p:nvPicPr>
        <p:blipFill rotWithShape="1">
          <a:blip r:embed="rId8">
            <a:alphaModFix/>
          </a:blip>
          <a:srcRect b="0" l="0" r="0" t="0"/>
          <a:stretch/>
        </p:blipFill>
        <p:spPr>
          <a:xfrm>
            <a:off x="7691438" y="5022652"/>
            <a:ext cx="209669" cy="209669"/>
          </a:xfrm>
          <a:prstGeom prst="rect">
            <a:avLst/>
          </a:prstGeom>
          <a:noFill/>
          <a:ln>
            <a:noFill/>
          </a:ln>
        </p:spPr>
      </p:pic>
      <p:sp>
        <p:nvSpPr>
          <p:cNvPr id="118" name="Google Shape;118;p16"/>
          <p:cNvSpPr/>
          <p:nvPr/>
        </p:nvSpPr>
        <p:spPr>
          <a:xfrm>
            <a:off x="7563326" y="5515808"/>
            <a:ext cx="2233136" cy="290274"/>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67534F"/>
              </a:buClr>
              <a:buSzPts val="1750"/>
              <a:buFont typeface="Marcellus"/>
              <a:buNone/>
            </a:pPr>
            <a:r>
              <a:rPr b="0" i="0" lang="en-US" sz="1750" u="none" cap="none" strike="noStrike">
                <a:solidFill>
                  <a:srgbClr val="67534F"/>
                </a:solidFill>
                <a:latin typeface="Marcellus"/>
                <a:ea typeface="Marcellus"/>
                <a:cs typeface="Marcellus"/>
                <a:sym typeface="Marcellus"/>
              </a:rPr>
              <a:t>AveOccup</a:t>
            </a:r>
            <a:endParaRPr b="0" i="0" sz="1750" u="none" cap="none" strike="noStrike"/>
          </a:p>
        </p:txBody>
      </p:sp>
      <p:sp>
        <p:nvSpPr>
          <p:cNvPr id="119" name="Google Shape;119;p16"/>
          <p:cNvSpPr/>
          <p:nvPr/>
        </p:nvSpPr>
        <p:spPr>
          <a:xfrm>
            <a:off x="7563326" y="5899190"/>
            <a:ext cx="6275189" cy="201930"/>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67534F"/>
              </a:buClr>
              <a:buSzPts val="1200"/>
              <a:buFont typeface="Montserrat"/>
              <a:buNone/>
            </a:pPr>
            <a:r>
              <a:rPr b="0" i="0" lang="en-US" sz="1200" u="none" cap="none" strike="noStrike">
                <a:solidFill>
                  <a:srgbClr val="67534F"/>
                </a:solidFill>
                <a:latin typeface="Montserrat"/>
                <a:ea typeface="Montserrat"/>
                <a:cs typeface="Montserrat"/>
                <a:sym typeface="Montserrat"/>
              </a:rPr>
              <a:t>Average household occupancy</a:t>
            </a:r>
            <a:endParaRPr b="0" i="0" sz="1200" u="none" cap="none" strike="noStrike"/>
          </a:p>
        </p:txBody>
      </p:sp>
      <p:sp>
        <p:nvSpPr>
          <p:cNvPr id="120" name="Google Shape;120;p16"/>
          <p:cNvSpPr/>
          <p:nvPr/>
        </p:nvSpPr>
        <p:spPr>
          <a:xfrm>
            <a:off x="621387" y="6446282"/>
            <a:ext cx="13387626" cy="403860"/>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67534F"/>
              </a:buClr>
              <a:buSzPts val="1200"/>
              <a:buFont typeface="Montserrat"/>
              <a:buNone/>
            </a:pPr>
            <a:r>
              <a:rPr b="0" i="0" lang="en-US" sz="1200" u="none" cap="none" strike="noStrike">
                <a:solidFill>
                  <a:srgbClr val="67534F"/>
                </a:solidFill>
                <a:latin typeface="Montserrat"/>
                <a:ea typeface="Montserrat"/>
                <a:cs typeface="Montserrat"/>
                <a:sym typeface="Montserrat"/>
              </a:rPr>
              <a:t>We'll explore the California Housing dataset, real data from the 1990 California census. It lists median house values across districts, alongside various features that help us understand property prices.</a:t>
            </a:r>
            <a:endParaRPr b="0" i="0" sz="1200" u="none" cap="none" strike="noStrike"/>
          </a:p>
        </p:txBody>
      </p:sp>
      <p:sp>
        <p:nvSpPr>
          <p:cNvPr id="121" name="Google Shape;121;p16"/>
          <p:cNvSpPr/>
          <p:nvPr/>
        </p:nvSpPr>
        <p:spPr>
          <a:xfrm>
            <a:off x="621387" y="7024807"/>
            <a:ext cx="13387626" cy="403860"/>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67534F"/>
              </a:buClr>
              <a:buSzPts val="1200"/>
              <a:buFont typeface="Montserrat"/>
              <a:buNone/>
            </a:pPr>
            <a:r>
              <a:rPr b="0" i="0" lang="en-US" sz="1200" u="none" cap="none" strike="noStrike">
                <a:solidFill>
                  <a:srgbClr val="67534F"/>
                </a:solidFill>
                <a:latin typeface="Montserrat"/>
                <a:ea typeface="Montserrat"/>
                <a:cs typeface="Montserrat"/>
                <a:sym typeface="Montserrat"/>
              </a:rPr>
              <a:t>Each entry represents a neighborhood, and our goal is simple: predict the median house value using these available characteristics. It's a great way to see how different factors influence home prices.</a:t>
            </a:r>
            <a:endParaRPr b="0" i="0" sz="1200" u="none" cap="none" strike="noStrike"/>
          </a:p>
        </p:txBody>
      </p:sp>
      <p:sp>
        <p:nvSpPr>
          <p:cNvPr id="122" name="Google Shape;122;p16"/>
          <p:cNvSpPr/>
          <p:nvPr/>
        </p:nvSpPr>
        <p:spPr>
          <a:xfrm>
            <a:off x="621387" y="7603331"/>
            <a:ext cx="13387626" cy="201930"/>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67534F"/>
              </a:buClr>
              <a:buSzPts val="1200"/>
              <a:buFont typeface="Montserrat"/>
              <a:buNone/>
            </a:pPr>
            <a:r>
              <a:rPr b="0" i="0" lang="en-US" sz="1200" u="none" cap="none" strike="noStrike">
                <a:solidFill>
                  <a:srgbClr val="67534F"/>
                </a:solidFill>
                <a:latin typeface="Montserrat"/>
                <a:ea typeface="Montserrat"/>
                <a:cs typeface="Montserrat"/>
                <a:sym typeface="Montserrat"/>
              </a:rPr>
              <a:t>By understanding how these features relate to each other and to house values, we can better predict what makes a home desirable and valuable.</a:t>
            </a:r>
            <a:endParaRPr b="0" i="0" sz="120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7"/>
          <p:cNvSpPr/>
          <p:nvPr/>
        </p:nvSpPr>
        <p:spPr>
          <a:xfrm>
            <a:off x="793790" y="1355765"/>
            <a:ext cx="8736568" cy="741759"/>
          </a:xfrm>
          <a:prstGeom prst="rect">
            <a:avLst/>
          </a:prstGeom>
          <a:noFill/>
          <a:ln>
            <a:noFill/>
          </a:ln>
        </p:spPr>
        <p:txBody>
          <a:bodyPr anchorCtr="0" anchor="t" bIns="0" lIns="0" spcFirstLastPara="1" rIns="0" wrap="square" tIns="0">
            <a:noAutofit/>
          </a:bodyPr>
          <a:lstStyle/>
          <a:p>
            <a:pPr indent="0" lvl="0" marL="0" marR="0" rtl="0" algn="l">
              <a:lnSpc>
                <a:spcPct val="130337"/>
              </a:lnSpc>
              <a:spcBef>
                <a:spcPts val="0"/>
              </a:spcBef>
              <a:spcAft>
                <a:spcPts val="0"/>
              </a:spcAft>
              <a:buClr>
                <a:srgbClr val="532418"/>
              </a:buClr>
              <a:buSzPts val="4450"/>
              <a:buFont typeface="Marcellus"/>
              <a:buNone/>
            </a:pPr>
            <a:r>
              <a:rPr b="0" i="0" lang="en-US" sz="4450" u="none" cap="none" strike="noStrike">
                <a:solidFill>
                  <a:srgbClr val="532418"/>
                </a:solidFill>
                <a:latin typeface="Marcellus"/>
                <a:ea typeface="Marcellus"/>
                <a:cs typeface="Marcellus"/>
                <a:sym typeface="Marcellus"/>
              </a:rPr>
              <a:t>Feature Matrix and Target Vector</a:t>
            </a:r>
            <a:endParaRPr b="0" i="0" sz="4450" u="none" cap="none" strike="noStrike"/>
          </a:p>
        </p:txBody>
      </p:sp>
      <p:sp>
        <p:nvSpPr>
          <p:cNvPr id="129" name="Google Shape;129;p17"/>
          <p:cNvSpPr/>
          <p:nvPr/>
        </p:nvSpPr>
        <p:spPr>
          <a:xfrm>
            <a:off x="793790" y="2494359"/>
            <a:ext cx="13042821"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To predict things like house prices, we use two main ingredients: a "feature matrix" (</a:t>
            </a:r>
            <a:r>
              <a:rPr b="1" i="0" lang="en-US" sz="1550" u="none" cap="none" strike="noStrike">
                <a:solidFill>
                  <a:srgbClr val="67534F"/>
                </a:solidFill>
                <a:latin typeface="Montserrat"/>
                <a:ea typeface="Montserrat"/>
                <a:cs typeface="Montserrat"/>
                <a:sym typeface="Montserrat"/>
              </a:rPr>
              <a:t>X</a:t>
            </a:r>
            <a:r>
              <a:rPr b="0" i="0" lang="en-US" sz="1550" u="none" cap="none" strike="noStrike">
                <a:solidFill>
                  <a:srgbClr val="67534F"/>
                </a:solidFill>
                <a:latin typeface="Montserrat"/>
                <a:ea typeface="Montserrat"/>
                <a:cs typeface="Montserrat"/>
                <a:sym typeface="Montserrat"/>
              </a:rPr>
              <a:t>) and a "target vector" (</a:t>
            </a:r>
            <a:r>
              <a:rPr b="1" i="0" lang="en-US" sz="1550" u="none" cap="none" strike="noStrike">
                <a:solidFill>
                  <a:srgbClr val="67534F"/>
                </a:solidFill>
                <a:latin typeface="Montserrat"/>
                <a:ea typeface="Montserrat"/>
                <a:cs typeface="Montserrat"/>
                <a:sym typeface="Montserrat"/>
              </a:rPr>
              <a:t>y</a:t>
            </a:r>
            <a:r>
              <a:rPr b="0" i="0" lang="en-US" sz="1550" u="none" cap="none" strike="noStrike">
                <a:solidFill>
                  <a:srgbClr val="67534F"/>
                </a:solidFill>
                <a:latin typeface="Montserrat"/>
                <a:ea typeface="Montserrat"/>
                <a:cs typeface="Montserrat"/>
                <a:sym typeface="Montserrat"/>
              </a:rPr>
              <a:t>).</a:t>
            </a:r>
            <a:endParaRPr b="0" i="0" sz="1550" u="none" cap="none" strike="noStrike"/>
          </a:p>
        </p:txBody>
      </p:sp>
      <p:sp>
        <p:nvSpPr>
          <p:cNvPr id="130" name="Google Shape;130;p17"/>
          <p:cNvSpPr/>
          <p:nvPr/>
        </p:nvSpPr>
        <p:spPr>
          <a:xfrm>
            <a:off x="793790" y="2975610"/>
            <a:ext cx="13042821" cy="516017"/>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Think of </a:t>
            </a:r>
            <a:r>
              <a:rPr b="1" i="0" lang="en-US" sz="1550" u="none" cap="none" strike="noStrike">
                <a:solidFill>
                  <a:srgbClr val="67534F"/>
                </a:solidFill>
                <a:latin typeface="Montserrat"/>
                <a:ea typeface="Montserrat"/>
                <a:cs typeface="Montserrat"/>
                <a:sym typeface="Montserrat"/>
              </a:rPr>
              <a:t>X</a:t>
            </a:r>
            <a:r>
              <a:rPr b="0" i="0" lang="en-US" sz="1550" u="none" cap="none" strike="noStrike">
                <a:solidFill>
                  <a:srgbClr val="67534F"/>
                </a:solidFill>
                <a:latin typeface="Montserrat"/>
                <a:ea typeface="Montserrat"/>
                <a:cs typeface="Montserrat"/>
                <a:sym typeface="Montserrat"/>
              </a:rPr>
              <a:t> as a spreadsheet of information. Each row is a unique item (like one house), and each column is a piece of data about that item (like its size, age, or neighborhood).</a:t>
            </a:r>
            <a:endParaRPr b="0" i="0" sz="1550" u="none" cap="none" strike="noStrike"/>
          </a:p>
        </p:txBody>
      </p:sp>
      <p:sp>
        <p:nvSpPr>
          <p:cNvPr id="131" name="Google Shape;131;p17"/>
          <p:cNvSpPr/>
          <p:nvPr/>
        </p:nvSpPr>
        <p:spPr>
          <a:xfrm>
            <a:off x="793790" y="3714869"/>
            <a:ext cx="13042821"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The </a:t>
            </a:r>
            <a:r>
              <a:rPr b="1" i="0" lang="en-US" sz="1550" u="none" cap="none" strike="noStrike">
                <a:solidFill>
                  <a:srgbClr val="67534F"/>
                </a:solidFill>
                <a:latin typeface="Montserrat"/>
                <a:ea typeface="Montserrat"/>
                <a:cs typeface="Montserrat"/>
                <a:sym typeface="Montserrat"/>
              </a:rPr>
              <a:t>y</a:t>
            </a:r>
            <a:r>
              <a:rPr b="0" i="0" lang="en-US" sz="1550" u="none" cap="none" strike="noStrike">
                <a:solidFill>
                  <a:srgbClr val="67534F"/>
                </a:solidFill>
                <a:latin typeface="Montserrat"/>
                <a:ea typeface="Montserrat"/>
                <a:cs typeface="Montserrat"/>
                <a:sym typeface="Montserrat"/>
              </a:rPr>
              <a:t> is the answer key—the actual value we want to predict for each item in </a:t>
            </a:r>
            <a:r>
              <a:rPr b="1" i="0" lang="en-US" sz="1550" u="none" cap="none" strike="noStrike">
                <a:solidFill>
                  <a:srgbClr val="67534F"/>
                </a:solidFill>
                <a:latin typeface="Montserrat"/>
                <a:ea typeface="Montserrat"/>
                <a:cs typeface="Montserrat"/>
                <a:sym typeface="Montserrat"/>
              </a:rPr>
              <a:t>X</a:t>
            </a:r>
            <a:r>
              <a:rPr b="0" i="0" lang="en-US" sz="1550" u="none" cap="none" strike="noStrike">
                <a:solidFill>
                  <a:srgbClr val="67534F"/>
                </a:solidFill>
                <a:latin typeface="Montserrat"/>
                <a:ea typeface="Montserrat"/>
                <a:cs typeface="Montserrat"/>
                <a:sym typeface="Montserrat"/>
              </a:rPr>
              <a:t> (e.g., the actual price of each house).</a:t>
            </a:r>
            <a:endParaRPr b="0" i="0" sz="1550" u="none" cap="none" strike="noStrike"/>
          </a:p>
        </p:txBody>
      </p:sp>
      <p:sp>
        <p:nvSpPr>
          <p:cNvPr id="132" name="Google Shape;132;p17"/>
          <p:cNvSpPr/>
          <p:nvPr/>
        </p:nvSpPr>
        <p:spPr>
          <a:xfrm>
            <a:off x="793790" y="4196120"/>
            <a:ext cx="13042821"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Our goal is for a model to learn how to combine the data in </a:t>
            </a:r>
            <a:r>
              <a:rPr b="1" i="0" lang="en-US" sz="1550" u="none" cap="none" strike="noStrike">
                <a:solidFill>
                  <a:srgbClr val="67534F"/>
                </a:solidFill>
                <a:latin typeface="Montserrat"/>
                <a:ea typeface="Montserrat"/>
                <a:cs typeface="Montserrat"/>
                <a:sym typeface="Montserrat"/>
              </a:rPr>
              <a:t>X</a:t>
            </a:r>
            <a:r>
              <a:rPr b="0" i="0" lang="en-US" sz="1550" u="none" cap="none" strike="noStrike">
                <a:solidFill>
                  <a:srgbClr val="67534F"/>
                </a:solidFill>
                <a:latin typeface="Montserrat"/>
                <a:ea typeface="Montserrat"/>
                <a:cs typeface="Montserrat"/>
                <a:sym typeface="Montserrat"/>
              </a:rPr>
              <a:t> to guess the values in </a:t>
            </a:r>
            <a:r>
              <a:rPr b="1" i="0" lang="en-US" sz="1550" u="none" cap="none" strike="noStrike">
                <a:solidFill>
                  <a:srgbClr val="67534F"/>
                </a:solidFill>
                <a:latin typeface="Montserrat"/>
                <a:ea typeface="Montserrat"/>
                <a:cs typeface="Montserrat"/>
                <a:sym typeface="Montserrat"/>
              </a:rPr>
              <a:t>y</a:t>
            </a:r>
            <a:r>
              <a:rPr b="0" i="0" lang="en-US" sz="1550" u="none" cap="none" strike="noStrike">
                <a:solidFill>
                  <a:srgbClr val="67534F"/>
                </a:solidFill>
                <a:latin typeface="Montserrat"/>
                <a:ea typeface="Montserrat"/>
                <a:cs typeface="Montserrat"/>
                <a:sym typeface="Montserrat"/>
              </a:rPr>
              <a:t> as accurately as possible.</a:t>
            </a:r>
            <a:endParaRPr b="0" i="0" sz="1550" u="none" cap="none" strike="noStrike"/>
          </a:p>
        </p:txBody>
      </p:sp>
      <p:pic>
        <p:nvPicPr>
          <p:cNvPr descr="preencoded.png" id="133" name="Google Shape;133;p17"/>
          <p:cNvPicPr preferRelativeResize="0"/>
          <p:nvPr/>
        </p:nvPicPr>
        <p:blipFill rotWithShape="1">
          <a:blip r:embed="rId3">
            <a:alphaModFix/>
          </a:blip>
          <a:srcRect b="0" l="0" r="0" t="0"/>
          <a:stretch/>
        </p:blipFill>
        <p:spPr>
          <a:xfrm>
            <a:off x="793790" y="4677370"/>
            <a:ext cx="4347567" cy="793790"/>
          </a:xfrm>
          <a:prstGeom prst="rect">
            <a:avLst/>
          </a:prstGeom>
          <a:noFill/>
          <a:ln>
            <a:noFill/>
          </a:ln>
        </p:spPr>
      </p:pic>
      <p:sp>
        <p:nvSpPr>
          <p:cNvPr id="134" name="Google Shape;134;p17"/>
          <p:cNvSpPr/>
          <p:nvPr/>
        </p:nvSpPr>
        <p:spPr>
          <a:xfrm>
            <a:off x="992148" y="5669518"/>
            <a:ext cx="2852976" cy="370761"/>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Clr>
                <a:srgbClr val="67534F"/>
              </a:buClr>
              <a:buSzPts val="2200"/>
              <a:buFont typeface="Marcellus"/>
              <a:buNone/>
            </a:pPr>
            <a:r>
              <a:rPr b="0" i="0" lang="en-US" sz="2200" u="none" cap="none" strike="noStrike">
                <a:solidFill>
                  <a:srgbClr val="67534F"/>
                </a:solidFill>
                <a:latin typeface="Marcellus"/>
                <a:ea typeface="Marcellus"/>
                <a:cs typeface="Marcellus"/>
                <a:sym typeface="Marcellus"/>
              </a:rPr>
              <a:t>Feature Matrix (X)</a:t>
            </a:r>
            <a:endParaRPr b="0" i="0" sz="2200" u="none" cap="none" strike="noStrike"/>
          </a:p>
        </p:txBody>
      </p:sp>
      <p:sp>
        <p:nvSpPr>
          <p:cNvPr id="135" name="Google Shape;135;p17"/>
          <p:cNvSpPr/>
          <p:nvPr/>
        </p:nvSpPr>
        <p:spPr>
          <a:xfrm>
            <a:off x="992148" y="6159341"/>
            <a:ext cx="3950851" cy="516017"/>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All the data points and their characteristics.</a:t>
            </a:r>
            <a:endParaRPr b="0" i="0" sz="1550" u="none" cap="none" strike="noStrike"/>
          </a:p>
        </p:txBody>
      </p:sp>
      <p:pic>
        <p:nvPicPr>
          <p:cNvPr descr="preencoded.png" id="136" name="Google Shape;136;p17"/>
          <p:cNvPicPr preferRelativeResize="0"/>
          <p:nvPr/>
        </p:nvPicPr>
        <p:blipFill rotWithShape="1">
          <a:blip r:embed="rId4">
            <a:alphaModFix/>
          </a:blip>
          <a:srcRect b="0" l="0" r="0" t="0"/>
          <a:stretch/>
        </p:blipFill>
        <p:spPr>
          <a:xfrm>
            <a:off x="5141357" y="4677370"/>
            <a:ext cx="4347567" cy="793790"/>
          </a:xfrm>
          <a:prstGeom prst="rect">
            <a:avLst/>
          </a:prstGeom>
          <a:noFill/>
          <a:ln>
            <a:noFill/>
          </a:ln>
        </p:spPr>
      </p:pic>
      <p:sp>
        <p:nvSpPr>
          <p:cNvPr id="137" name="Google Shape;137;p17"/>
          <p:cNvSpPr/>
          <p:nvPr/>
        </p:nvSpPr>
        <p:spPr>
          <a:xfrm>
            <a:off x="5339715" y="5669518"/>
            <a:ext cx="2852976" cy="370761"/>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Clr>
                <a:srgbClr val="67534F"/>
              </a:buClr>
              <a:buSzPts val="2200"/>
              <a:buFont typeface="Marcellus"/>
              <a:buNone/>
            </a:pPr>
            <a:r>
              <a:rPr b="0" i="0" lang="en-US" sz="2200" u="none" cap="none" strike="noStrike">
                <a:solidFill>
                  <a:srgbClr val="67534F"/>
                </a:solidFill>
                <a:latin typeface="Marcellus"/>
                <a:ea typeface="Marcellus"/>
                <a:cs typeface="Marcellus"/>
                <a:sym typeface="Marcellus"/>
              </a:rPr>
              <a:t>Model Learns</a:t>
            </a:r>
            <a:endParaRPr b="0" i="0" sz="2200" u="none" cap="none" strike="noStrike"/>
          </a:p>
        </p:txBody>
      </p:sp>
      <p:sp>
        <p:nvSpPr>
          <p:cNvPr id="138" name="Google Shape;138;p17"/>
          <p:cNvSpPr/>
          <p:nvPr/>
        </p:nvSpPr>
        <p:spPr>
          <a:xfrm>
            <a:off x="5339715" y="6159341"/>
            <a:ext cx="3950851"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Finds patterns in X to predict Y.</a:t>
            </a:r>
            <a:endParaRPr b="0" i="0" sz="1550" u="none" cap="none" strike="noStrike"/>
          </a:p>
        </p:txBody>
      </p:sp>
      <p:pic>
        <p:nvPicPr>
          <p:cNvPr descr="preencoded.png" id="139" name="Google Shape;139;p17"/>
          <p:cNvPicPr preferRelativeResize="0"/>
          <p:nvPr/>
        </p:nvPicPr>
        <p:blipFill rotWithShape="1">
          <a:blip r:embed="rId5">
            <a:alphaModFix/>
          </a:blip>
          <a:srcRect b="0" l="0" r="0" t="0"/>
          <a:stretch/>
        </p:blipFill>
        <p:spPr>
          <a:xfrm>
            <a:off x="9488924" y="4677370"/>
            <a:ext cx="4347567" cy="793790"/>
          </a:xfrm>
          <a:prstGeom prst="rect">
            <a:avLst/>
          </a:prstGeom>
          <a:noFill/>
          <a:ln>
            <a:noFill/>
          </a:ln>
        </p:spPr>
      </p:pic>
      <p:sp>
        <p:nvSpPr>
          <p:cNvPr id="140" name="Google Shape;140;p17"/>
          <p:cNvSpPr/>
          <p:nvPr/>
        </p:nvSpPr>
        <p:spPr>
          <a:xfrm>
            <a:off x="9687282" y="5669518"/>
            <a:ext cx="2852976" cy="370761"/>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Clr>
                <a:srgbClr val="67534F"/>
              </a:buClr>
              <a:buSzPts val="2200"/>
              <a:buFont typeface="Marcellus"/>
              <a:buNone/>
            </a:pPr>
            <a:r>
              <a:rPr b="0" i="0" lang="en-US" sz="2200" u="none" cap="none" strike="noStrike">
                <a:solidFill>
                  <a:srgbClr val="67534F"/>
                </a:solidFill>
                <a:latin typeface="Marcellus"/>
                <a:ea typeface="Marcellus"/>
                <a:cs typeface="Marcellus"/>
                <a:sym typeface="Marcellus"/>
              </a:rPr>
              <a:t>Target Vector (Y)</a:t>
            </a:r>
            <a:endParaRPr b="0" i="0" sz="2200" u="none" cap="none" strike="noStrike"/>
          </a:p>
        </p:txBody>
      </p:sp>
      <p:sp>
        <p:nvSpPr>
          <p:cNvPr id="141" name="Google Shape;141;p17"/>
          <p:cNvSpPr/>
          <p:nvPr/>
        </p:nvSpPr>
        <p:spPr>
          <a:xfrm>
            <a:off x="9687282" y="6159341"/>
            <a:ext cx="3950851"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What we want to predict.</a:t>
            </a:r>
            <a:endParaRPr b="0" i="0" sz="155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8"/>
          <p:cNvSpPr/>
          <p:nvPr/>
        </p:nvSpPr>
        <p:spPr>
          <a:xfrm>
            <a:off x="793790" y="563880"/>
            <a:ext cx="11470005" cy="741759"/>
          </a:xfrm>
          <a:prstGeom prst="rect">
            <a:avLst/>
          </a:prstGeom>
          <a:noFill/>
          <a:ln>
            <a:noFill/>
          </a:ln>
        </p:spPr>
        <p:txBody>
          <a:bodyPr anchorCtr="0" anchor="t" bIns="0" lIns="0" spcFirstLastPara="1" rIns="0" wrap="square" tIns="0">
            <a:noAutofit/>
          </a:bodyPr>
          <a:lstStyle/>
          <a:p>
            <a:pPr indent="0" lvl="0" marL="0" marR="0" rtl="0" algn="l">
              <a:lnSpc>
                <a:spcPct val="130337"/>
              </a:lnSpc>
              <a:spcBef>
                <a:spcPts val="0"/>
              </a:spcBef>
              <a:spcAft>
                <a:spcPts val="0"/>
              </a:spcAft>
              <a:buClr>
                <a:srgbClr val="532418"/>
              </a:buClr>
              <a:buSzPts val="4450"/>
              <a:buFont typeface="Marcellus"/>
              <a:buNone/>
            </a:pPr>
            <a:r>
              <a:rPr b="0" i="0" lang="en-US" sz="4450" u="none" cap="none" strike="noStrike">
                <a:solidFill>
                  <a:srgbClr val="532418"/>
                </a:solidFill>
                <a:latin typeface="Marcellus"/>
                <a:ea typeface="Marcellus"/>
                <a:cs typeface="Marcellus"/>
                <a:sym typeface="Marcellus"/>
              </a:rPr>
              <a:t>Feature Matrix and Target Vector - Example</a:t>
            </a:r>
            <a:endParaRPr b="0" i="0" sz="4450" u="none" cap="none" strike="noStrike"/>
          </a:p>
        </p:txBody>
      </p:sp>
      <p:sp>
        <p:nvSpPr>
          <p:cNvPr id="148" name="Google Shape;148;p18"/>
          <p:cNvSpPr/>
          <p:nvPr/>
        </p:nvSpPr>
        <p:spPr>
          <a:xfrm>
            <a:off x="793790" y="1702475"/>
            <a:ext cx="13042821"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Let's see this in action with a simple house price example:</a:t>
            </a:r>
            <a:endParaRPr b="0" i="0" sz="1550" u="none" cap="none" strike="noStrike"/>
          </a:p>
        </p:txBody>
      </p:sp>
      <p:sp>
        <p:nvSpPr>
          <p:cNvPr id="149" name="Google Shape;149;p18"/>
          <p:cNvSpPr/>
          <p:nvPr/>
        </p:nvSpPr>
        <p:spPr>
          <a:xfrm>
            <a:off x="793790" y="2183725"/>
            <a:ext cx="13042821" cy="1549360"/>
          </a:xfrm>
          <a:prstGeom prst="roundRect">
            <a:avLst>
              <a:gd fmla="val 5380" name="adj"/>
            </a:avLst>
          </a:prstGeom>
          <a:noFill/>
          <a:ln cap="flat" cmpd="sng" w="9525">
            <a:solidFill>
              <a:srgbClr val="000000">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8"/>
          <p:cNvSpPr/>
          <p:nvPr/>
        </p:nvSpPr>
        <p:spPr>
          <a:xfrm>
            <a:off x="801410" y="2191345"/>
            <a:ext cx="13027581" cy="511373"/>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8"/>
          <p:cNvSpPr/>
          <p:nvPr/>
        </p:nvSpPr>
        <p:spPr>
          <a:xfrm>
            <a:off x="1000006" y="2318028"/>
            <a:ext cx="2856309"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1000</a:t>
            </a:r>
            <a:endParaRPr b="0" i="0" sz="1550" u="none" cap="none" strike="noStrike"/>
          </a:p>
        </p:txBody>
      </p:sp>
      <p:sp>
        <p:nvSpPr>
          <p:cNvPr id="152" name="Google Shape;152;p18"/>
          <p:cNvSpPr/>
          <p:nvPr/>
        </p:nvSpPr>
        <p:spPr>
          <a:xfrm>
            <a:off x="4260652" y="2318028"/>
            <a:ext cx="2852499"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2</a:t>
            </a:r>
            <a:endParaRPr b="0" i="0" sz="1550" u="none" cap="none" strike="noStrike"/>
          </a:p>
        </p:txBody>
      </p:sp>
      <p:sp>
        <p:nvSpPr>
          <p:cNvPr id="153" name="Google Shape;153;p18"/>
          <p:cNvSpPr/>
          <p:nvPr/>
        </p:nvSpPr>
        <p:spPr>
          <a:xfrm>
            <a:off x="7517487" y="2318028"/>
            <a:ext cx="2852499"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10</a:t>
            </a:r>
            <a:endParaRPr b="0" i="0" sz="1550" u="none" cap="none" strike="noStrike"/>
          </a:p>
        </p:txBody>
      </p:sp>
      <p:sp>
        <p:nvSpPr>
          <p:cNvPr id="154" name="Google Shape;154;p18"/>
          <p:cNvSpPr/>
          <p:nvPr/>
        </p:nvSpPr>
        <p:spPr>
          <a:xfrm>
            <a:off x="10774323" y="2318028"/>
            <a:ext cx="2856309"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55</a:t>
            </a:r>
            <a:endParaRPr b="0" i="0" sz="1550" u="none" cap="none" strike="noStrike"/>
          </a:p>
        </p:txBody>
      </p:sp>
      <p:sp>
        <p:nvSpPr>
          <p:cNvPr id="155" name="Google Shape;155;p18"/>
          <p:cNvSpPr/>
          <p:nvPr/>
        </p:nvSpPr>
        <p:spPr>
          <a:xfrm>
            <a:off x="801410" y="2702719"/>
            <a:ext cx="13027581" cy="511373"/>
          </a:xfrm>
          <a:prstGeom prst="rect">
            <a:avLst/>
          </a:prstGeom>
          <a:solidFill>
            <a:srgbClr val="000000">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8"/>
          <p:cNvSpPr/>
          <p:nvPr/>
        </p:nvSpPr>
        <p:spPr>
          <a:xfrm>
            <a:off x="1000006" y="2829401"/>
            <a:ext cx="2856309"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1500</a:t>
            </a:r>
            <a:endParaRPr b="0" i="0" sz="1550" u="none" cap="none" strike="noStrike"/>
          </a:p>
        </p:txBody>
      </p:sp>
      <p:sp>
        <p:nvSpPr>
          <p:cNvPr id="157" name="Google Shape;157;p18"/>
          <p:cNvSpPr/>
          <p:nvPr/>
        </p:nvSpPr>
        <p:spPr>
          <a:xfrm>
            <a:off x="4260652" y="2829401"/>
            <a:ext cx="2852499"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3</a:t>
            </a:r>
            <a:endParaRPr b="0" i="0" sz="1550" u="none" cap="none" strike="noStrike"/>
          </a:p>
        </p:txBody>
      </p:sp>
      <p:sp>
        <p:nvSpPr>
          <p:cNvPr id="158" name="Google Shape;158;p18"/>
          <p:cNvSpPr/>
          <p:nvPr/>
        </p:nvSpPr>
        <p:spPr>
          <a:xfrm>
            <a:off x="7517487" y="2829401"/>
            <a:ext cx="2852499"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5</a:t>
            </a:r>
            <a:endParaRPr b="0" i="0" sz="1550" u="none" cap="none" strike="noStrike"/>
          </a:p>
        </p:txBody>
      </p:sp>
      <p:sp>
        <p:nvSpPr>
          <p:cNvPr id="159" name="Google Shape;159;p18"/>
          <p:cNvSpPr/>
          <p:nvPr/>
        </p:nvSpPr>
        <p:spPr>
          <a:xfrm>
            <a:off x="10774323" y="2829401"/>
            <a:ext cx="2856309"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82</a:t>
            </a:r>
            <a:endParaRPr b="0" i="0" sz="1550" u="none" cap="none" strike="noStrike"/>
          </a:p>
        </p:txBody>
      </p:sp>
      <p:sp>
        <p:nvSpPr>
          <p:cNvPr id="160" name="Google Shape;160;p18"/>
          <p:cNvSpPr/>
          <p:nvPr/>
        </p:nvSpPr>
        <p:spPr>
          <a:xfrm>
            <a:off x="801410" y="3214092"/>
            <a:ext cx="13027581" cy="511373"/>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8"/>
          <p:cNvSpPr/>
          <p:nvPr/>
        </p:nvSpPr>
        <p:spPr>
          <a:xfrm>
            <a:off x="1000006" y="3340775"/>
            <a:ext cx="2856309"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800</a:t>
            </a:r>
            <a:endParaRPr b="0" i="0" sz="1550" u="none" cap="none" strike="noStrike"/>
          </a:p>
        </p:txBody>
      </p:sp>
      <p:sp>
        <p:nvSpPr>
          <p:cNvPr id="162" name="Google Shape;162;p18"/>
          <p:cNvSpPr/>
          <p:nvPr/>
        </p:nvSpPr>
        <p:spPr>
          <a:xfrm>
            <a:off x="4260652" y="3340775"/>
            <a:ext cx="2852499"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2</a:t>
            </a:r>
            <a:endParaRPr b="0" i="0" sz="1550" u="none" cap="none" strike="noStrike"/>
          </a:p>
        </p:txBody>
      </p:sp>
      <p:sp>
        <p:nvSpPr>
          <p:cNvPr id="163" name="Google Shape;163;p18"/>
          <p:cNvSpPr/>
          <p:nvPr/>
        </p:nvSpPr>
        <p:spPr>
          <a:xfrm>
            <a:off x="7517487" y="3340775"/>
            <a:ext cx="2852499"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20</a:t>
            </a:r>
            <a:endParaRPr b="0" i="0" sz="1550" u="none" cap="none" strike="noStrike"/>
          </a:p>
        </p:txBody>
      </p:sp>
      <p:sp>
        <p:nvSpPr>
          <p:cNvPr id="164" name="Google Shape;164;p18"/>
          <p:cNvSpPr/>
          <p:nvPr/>
        </p:nvSpPr>
        <p:spPr>
          <a:xfrm>
            <a:off x="10774323" y="3340775"/>
            <a:ext cx="2856309"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40</a:t>
            </a:r>
            <a:endParaRPr b="0" i="0" sz="1550" u="none" cap="none" strike="noStrike"/>
          </a:p>
        </p:txBody>
      </p:sp>
      <p:sp>
        <p:nvSpPr>
          <p:cNvPr id="165" name="Google Shape;165;p18"/>
          <p:cNvSpPr/>
          <p:nvPr/>
        </p:nvSpPr>
        <p:spPr>
          <a:xfrm>
            <a:off x="793790" y="4154686"/>
            <a:ext cx="2852976" cy="370761"/>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Clr>
                <a:srgbClr val="532418"/>
              </a:buClr>
              <a:buSzPts val="2200"/>
              <a:buFont typeface="Marcellus"/>
              <a:buNone/>
            </a:pPr>
            <a:r>
              <a:rPr b="0" i="0" lang="en-US" sz="2200" u="none" cap="none" strike="noStrike">
                <a:solidFill>
                  <a:srgbClr val="532418"/>
                </a:solidFill>
                <a:latin typeface="Marcellus"/>
                <a:ea typeface="Marcellus"/>
                <a:cs typeface="Marcellus"/>
                <a:sym typeface="Marcellus"/>
              </a:rPr>
              <a:t>Feature Matrix (X)</a:t>
            </a:r>
            <a:endParaRPr b="0" i="0" sz="2200" u="none" cap="none" strike="noStrike"/>
          </a:p>
        </p:txBody>
      </p:sp>
      <p:sp>
        <p:nvSpPr>
          <p:cNvPr id="166" name="Google Shape;166;p18"/>
          <p:cNvSpPr/>
          <p:nvPr/>
        </p:nvSpPr>
        <p:spPr>
          <a:xfrm>
            <a:off x="793790" y="4723805"/>
            <a:ext cx="6279356" cy="516017"/>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The first three columns become our X - all the information we know about each house:</a:t>
            </a:r>
            <a:endParaRPr b="0" i="0" sz="1550" u="none" cap="none" strike="noStrike"/>
          </a:p>
        </p:txBody>
      </p:sp>
      <p:sp>
        <p:nvSpPr>
          <p:cNvPr id="167" name="Google Shape;167;p18"/>
          <p:cNvSpPr/>
          <p:nvPr/>
        </p:nvSpPr>
        <p:spPr>
          <a:xfrm>
            <a:off x="793790" y="5418415"/>
            <a:ext cx="6279356" cy="258008"/>
          </a:xfrm>
          <a:prstGeom prst="rect">
            <a:avLst/>
          </a:prstGeom>
          <a:noFill/>
          <a:ln>
            <a:noFill/>
          </a:ln>
        </p:spPr>
        <p:txBody>
          <a:bodyPr anchorCtr="0" anchor="t" bIns="0" lIns="0" spcFirstLastPara="1" rIns="0" wrap="square" tIns="0">
            <a:noAutofit/>
          </a:bodyPr>
          <a:lstStyle/>
          <a:p>
            <a:pPr indent="-342900" lvl="0" marL="342900" marR="0" rtl="0" algn="l">
              <a:lnSpc>
                <a:spcPct val="129032"/>
              </a:lnSpc>
              <a:spcBef>
                <a:spcPts val="0"/>
              </a:spcBef>
              <a:spcAft>
                <a:spcPts val="0"/>
              </a:spcAft>
              <a:buClr>
                <a:srgbClr val="67534F"/>
              </a:buClr>
              <a:buSzPts val="1550"/>
              <a:buFont typeface="Montserrat"/>
              <a:buChar char="•"/>
            </a:pPr>
            <a:r>
              <a:rPr b="0" i="0" lang="en-US" sz="1550" u="none" cap="none" strike="noStrike">
                <a:solidFill>
                  <a:srgbClr val="67534F"/>
                </a:solidFill>
                <a:latin typeface="Montserrat"/>
                <a:ea typeface="Montserrat"/>
                <a:cs typeface="Montserrat"/>
                <a:sym typeface="Montserrat"/>
              </a:rPr>
              <a:t>House 1: 1000 sq ft, 2 bedrooms, 10 years old</a:t>
            </a:r>
            <a:endParaRPr b="0" i="0" sz="1550" u="none" cap="none" strike="noStrike"/>
          </a:p>
        </p:txBody>
      </p:sp>
      <p:sp>
        <p:nvSpPr>
          <p:cNvPr id="168" name="Google Shape;168;p18"/>
          <p:cNvSpPr/>
          <p:nvPr/>
        </p:nvSpPr>
        <p:spPr>
          <a:xfrm>
            <a:off x="793790" y="5745837"/>
            <a:ext cx="6279356" cy="258008"/>
          </a:xfrm>
          <a:prstGeom prst="rect">
            <a:avLst/>
          </a:prstGeom>
          <a:noFill/>
          <a:ln>
            <a:noFill/>
          </a:ln>
        </p:spPr>
        <p:txBody>
          <a:bodyPr anchorCtr="0" anchor="t" bIns="0" lIns="0" spcFirstLastPara="1" rIns="0" wrap="square" tIns="0">
            <a:noAutofit/>
          </a:bodyPr>
          <a:lstStyle/>
          <a:p>
            <a:pPr indent="-342900" lvl="0" marL="342900" marR="0" rtl="0" algn="l">
              <a:lnSpc>
                <a:spcPct val="129032"/>
              </a:lnSpc>
              <a:spcBef>
                <a:spcPts val="0"/>
              </a:spcBef>
              <a:spcAft>
                <a:spcPts val="0"/>
              </a:spcAft>
              <a:buClr>
                <a:srgbClr val="67534F"/>
              </a:buClr>
              <a:buSzPts val="1550"/>
              <a:buFont typeface="Montserrat"/>
              <a:buChar char="•"/>
            </a:pPr>
            <a:r>
              <a:rPr b="0" i="0" lang="en-US" sz="1550" u="none" cap="none" strike="noStrike">
                <a:solidFill>
                  <a:srgbClr val="67534F"/>
                </a:solidFill>
                <a:latin typeface="Montserrat"/>
                <a:ea typeface="Montserrat"/>
                <a:cs typeface="Montserrat"/>
                <a:sym typeface="Montserrat"/>
              </a:rPr>
              <a:t>House 2: 1500 sq ft, 3 bedrooms, 5 years old</a:t>
            </a:r>
            <a:endParaRPr b="0" i="0" sz="1550" u="none" cap="none" strike="noStrike"/>
          </a:p>
        </p:txBody>
      </p:sp>
      <p:sp>
        <p:nvSpPr>
          <p:cNvPr id="169" name="Google Shape;169;p18"/>
          <p:cNvSpPr/>
          <p:nvPr/>
        </p:nvSpPr>
        <p:spPr>
          <a:xfrm>
            <a:off x="793790" y="6073259"/>
            <a:ext cx="6279356" cy="258008"/>
          </a:xfrm>
          <a:prstGeom prst="rect">
            <a:avLst/>
          </a:prstGeom>
          <a:noFill/>
          <a:ln>
            <a:noFill/>
          </a:ln>
        </p:spPr>
        <p:txBody>
          <a:bodyPr anchorCtr="0" anchor="t" bIns="0" lIns="0" spcFirstLastPara="1" rIns="0" wrap="square" tIns="0">
            <a:noAutofit/>
          </a:bodyPr>
          <a:lstStyle/>
          <a:p>
            <a:pPr indent="-342900" lvl="0" marL="342900" marR="0" rtl="0" algn="l">
              <a:lnSpc>
                <a:spcPct val="129032"/>
              </a:lnSpc>
              <a:spcBef>
                <a:spcPts val="0"/>
              </a:spcBef>
              <a:spcAft>
                <a:spcPts val="0"/>
              </a:spcAft>
              <a:buClr>
                <a:srgbClr val="67534F"/>
              </a:buClr>
              <a:buSzPts val="1550"/>
              <a:buFont typeface="Montserrat"/>
              <a:buChar char="•"/>
            </a:pPr>
            <a:r>
              <a:rPr b="0" i="0" lang="en-US" sz="1550" u="none" cap="none" strike="noStrike">
                <a:solidFill>
                  <a:srgbClr val="67534F"/>
                </a:solidFill>
                <a:latin typeface="Montserrat"/>
                <a:ea typeface="Montserrat"/>
                <a:cs typeface="Montserrat"/>
                <a:sym typeface="Montserrat"/>
              </a:rPr>
              <a:t>House 3: 800 sq ft, 2 bedrooms, 20 years old</a:t>
            </a:r>
            <a:endParaRPr b="0" i="0" sz="1550" u="none" cap="none" strike="noStrike"/>
          </a:p>
        </p:txBody>
      </p:sp>
      <p:sp>
        <p:nvSpPr>
          <p:cNvPr id="170" name="Google Shape;170;p18"/>
          <p:cNvSpPr/>
          <p:nvPr/>
        </p:nvSpPr>
        <p:spPr>
          <a:xfrm>
            <a:off x="7564874" y="4154686"/>
            <a:ext cx="2852976" cy="370761"/>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Clr>
                <a:srgbClr val="532418"/>
              </a:buClr>
              <a:buSzPts val="2200"/>
              <a:buFont typeface="Marcellus"/>
              <a:buNone/>
            </a:pPr>
            <a:r>
              <a:rPr b="0" i="0" lang="en-US" sz="2200" u="none" cap="none" strike="noStrike">
                <a:solidFill>
                  <a:srgbClr val="532418"/>
                </a:solidFill>
                <a:latin typeface="Marcellus"/>
                <a:ea typeface="Marcellus"/>
                <a:cs typeface="Marcellus"/>
                <a:sym typeface="Marcellus"/>
              </a:rPr>
              <a:t>Target Vector (y)</a:t>
            </a:r>
            <a:endParaRPr b="0" i="0" sz="2200" u="none" cap="none" strike="noStrike"/>
          </a:p>
        </p:txBody>
      </p:sp>
      <p:sp>
        <p:nvSpPr>
          <p:cNvPr id="171" name="Google Shape;171;p18"/>
          <p:cNvSpPr/>
          <p:nvPr/>
        </p:nvSpPr>
        <p:spPr>
          <a:xfrm>
            <a:off x="7564874" y="4723805"/>
            <a:ext cx="6279356"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The last column is our y - what we want to predict:</a:t>
            </a:r>
            <a:endParaRPr b="0" i="0" sz="1550" u="none" cap="none" strike="noStrike"/>
          </a:p>
        </p:txBody>
      </p:sp>
      <p:sp>
        <p:nvSpPr>
          <p:cNvPr id="172" name="Google Shape;172;p18"/>
          <p:cNvSpPr/>
          <p:nvPr/>
        </p:nvSpPr>
        <p:spPr>
          <a:xfrm>
            <a:off x="7564874" y="5160407"/>
            <a:ext cx="6279356" cy="258008"/>
          </a:xfrm>
          <a:prstGeom prst="rect">
            <a:avLst/>
          </a:prstGeom>
          <a:noFill/>
          <a:ln>
            <a:noFill/>
          </a:ln>
        </p:spPr>
        <p:txBody>
          <a:bodyPr anchorCtr="0" anchor="t" bIns="0" lIns="0" spcFirstLastPara="1" rIns="0" wrap="square" tIns="0">
            <a:noAutofit/>
          </a:bodyPr>
          <a:lstStyle/>
          <a:p>
            <a:pPr indent="-342900" lvl="0" marL="342900" marR="0" rtl="0" algn="l">
              <a:lnSpc>
                <a:spcPct val="129032"/>
              </a:lnSpc>
              <a:spcBef>
                <a:spcPts val="0"/>
              </a:spcBef>
              <a:spcAft>
                <a:spcPts val="0"/>
              </a:spcAft>
              <a:buClr>
                <a:srgbClr val="67534F"/>
              </a:buClr>
              <a:buSzPts val="1550"/>
              <a:buFont typeface="Montserrat"/>
              <a:buChar char="•"/>
            </a:pPr>
            <a:r>
              <a:rPr b="0" i="0" lang="en-US" sz="1550" u="none" cap="none" strike="noStrike">
                <a:solidFill>
                  <a:srgbClr val="67534F"/>
                </a:solidFill>
                <a:latin typeface="Montserrat"/>
                <a:ea typeface="Montserrat"/>
                <a:cs typeface="Montserrat"/>
                <a:sym typeface="Montserrat"/>
              </a:rPr>
              <a:t>House 1: $55,000</a:t>
            </a:r>
            <a:endParaRPr b="0" i="0" sz="1550" u="none" cap="none" strike="noStrike"/>
          </a:p>
        </p:txBody>
      </p:sp>
      <p:sp>
        <p:nvSpPr>
          <p:cNvPr id="173" name="Google Shape;173;p18"/>
          <p:cNvSpPr/>
          <p:nvPr/>
        </p:nvSpPr>
        <p:spPr>
          <a:xfrm>
            <a:off x="7564874" y="5487829"/>
            <a:ext cx="6279356" cy="258008"/>
          </a:xfrm>
          <a:prstGeom prst="rect">
            <a:avLst/>
          </a:prstGeom>
          <a:noFill/>
          <a:ln>
            <a:noFill/>
          </a:ln>
        </p:spPr>
        <p:txBody>
          <a:bodyPr anchorCtr="0" anchor="t" bIns="0" lIns="0" spcFirstLastPara="1" rIns="0" wrap="square" tIns="0">
            <a:noAutofit/>
          </a:bodyPr>
          <a:lstStyle/>
          <a:p>
            <a:pPr indent="-342900" lvl="0" marL="342900" marR="0" rtl="0" algn="l">
              <a:lnSpc>
                <a:spcPct val="129032"/>
              </a:lnSpc>
              <a:spcBef>
                <a:spcPts val="0"/>
              </a:spcBef>
              <a:spcAft>
                <a:spcPts val="0"/>
              </a:spcAft>
              <a:buClr>
                <a:srgbClr val="67534F"/>
              </a:buClr>
              <a:buSzPts val="1550"/>
              <a:buFont typeface="Montserrat"/>
              <a:buChar char="•"/>
            </a:pPr>
            <a:r>
              <a:rPr b="0" i="0" lang="en-US" sz="1550" u="none" cap="none" strike="noStrike">
                <a:solidFill>
                  <a:srgbClr val="67534F"/>
                </a:solidFill>
                <a:latin typeface="Montserrat"/>
                <a:ea typeface="Montserrat"/>
                <a:cs typeface="Montserrat"/>
                <a:sym typeface="Montserrat"/>
              </a:rPr>
              <a:t>House 2: $82,000</a:t>
            </a:r>
            <a:endParaRPr b="0" i="0" sz="1550" u="none" cap="none" strike="noStrike"/>
          </a:p>
        </p:txBody>
      </p:sp>
      <p:sp>
        <p:nvSpPr>
          <p:cNvPr id="174" name="Google Shape;174;p18"/>
          <p:cNvSpPr/>
          <p:nvPr/>
        </p:nvSpPr>
        <p:spPr>
          <a:xfrm>
            <a:off x="7564874" y="5815251"/>
            <a:ext cx="6279356" cy="258008"/>
          </a:xfrm>
          <a:prstGeom prst="rect">
            <a:avLst/>
          </a:prstGeom>
          <a:noFill/>
          <a:ln>
            <a:noFill/>
          </a:ln>
        </p:spPr>
        <p:txBody>
          <a:bodyPr anchorCtr="0" anchor="t" bIns="0" lIns="0" spcFirstLastPara="1" rIns="0" wrap="square" tIns="0">
            <a:noAutofit/>
          </a:bodyPr>
          <a:lstStyle/>
          <a:p>
            <a:pPr indent="-342900" lvl="0" marL="342900" marR="0" rtl="0" algn="l">
              <a:lnSpc>
                <a:spcPct val="129032"/>
              </a:lnSpc>
              <a:spcBef>
                <a:spcPts val="0"/>
              </a:spcBef>
              <a:spcAft>
                <a:spcPts val="0"/>
              </a:spcAft>
              <a:buClr>
                <a:srgbClr val="67534F"/>
              </a:buClr>
              <a:buSzPts val="1550"/>
              <a:buFont typeface="Montserrat"/>
              <a:buChar char="•"/>
            </a:pPr>
            <a:r>
              <a:rPr b="0" i="0" lang="en-US" sz="1550" u="none" cap="none" strike="noStrike">
                <a:solidFill>
                  <a:srgbClr val="67534F"/>
                </a:solidFill>
                <a:latin typeface="Montserrat"/>
                <a:ea typeface="Montserrat"/>
                <a:cs typeface="Montserrat"/>
                <a:sym typeface="Montserrat"/>
              </a:rPr>
              <a:t>House 3: $40,000</a:t>
            </a:r>
            <a:endParaRPr b="0" i="0" sz="1550" u="none" cap="none" strike="noStrike"/>
          </a:p>
        </p:txBody>
      </p:sp>
      <p:sp>
        <p:nvSpPr>
          <p:cNvPr id="175" name="Google Shape;175;p18"/>
          <p:cNvSpPr/>
          <p:nvPr/>
        </p:nvSpPr>
        <p:spPr>
          <a:xfrm>
            <a:off x="793790" y="6623923"/>
            <a:ext cx="13042821" cy="1041678"/>
          </a:xfrm>
          <a:prstGeom prst="roundRect">
            <a:avLst>
              <a:gd fmla="val 8002" name="adj"/>
            </a:avLst>
          </a:prstGeom>
          <a:solidFill>
            <a:srgbClr val="FFD1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6" name="Google Shape;176;p18"/>
          <p:cNvPicPr preferRelativeResize="0"/>
          <p:nvPr/>
        </p:nvPicPr>
        <p:blipFill rotWithShape="1">
          <a:blip r:embed="rId3">
            <a:alphaModFix/>
          </a:blip>
          <a:srcRect b="0" l="0" r="0" t="0"/>
          <a:stretch/>
        </p:blipFill>
        <p:spPr>
          <a:xfrm>
            <a:off x="992148" y="6888718"/>
            <a:ext cx="248007" cy="198358"/>
          </a:xfrm>
          <a:prstGeom prst="rect">
            <a:avLst/>
          </a:prstGeom>
          <a:noFill/>
          <a:ln>
            <a:noFill/>
          </a:ln>
        </p:spPr>
      </p:pic>
      <p:sp>
        <p:nvSpPr>
          <p:cNvPr id="177" name="Google Shape;177;p18"/>
          <p:cNvSpPr/>
          <p:nvPr/>
        </p:nvSpPr>
        <p:spPr>
          <a:xfrm>
            <a:off x="1438513" y="6871811"/>
            <a:ext cx="12199739" cy="516017"/>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000000"/>
              </a:buClr>
              <a:buSzPts val="1550"/>
              <a:buFont typeface="Montserrat"/>
              <a:buNone/>
            </a:pPr>
            <a:r>
              <a:rPr b="0" i="0" lang="en-US" sz="1550" u="none" cap="none" strike="noStrike">
                <a:solidFill>
                  <a:srgbClr val="000000"/>
                </a:solidFill>
                <a:latin typeface="Montserrat"/>
                <a:ea typeface="Montserrat"/>
                <a:cs typeface="Montserrat"/>
                <a:sym typeface="Montserrat"/>
              </a:rPr>
              <a:t>Goal: The model learns how size, bedrooms, and age combine to predict price. Once trained, give it new house features and it predicts the price!</a:t>
            </a:r>
            <a:endParaRPr b="0" i="0" sz="155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9"/>
          <p:cNvSpPr/>
          <p:nvPr/>
        </p:nvSpPr>
        <p:spPr>
          <a:xfrm>
            <a:off x="793790" y="1928813"/>
            <a:ext cx="11304865" cy="741759"/>
          </a:xfrm>
          <a:prstGeom prst="rect">
            <a:avLst/>
          </a:prstGeom>
          <a:noFill/>
          <a:ln>
            <a:noFill/>
          </a:ln>
        </p:spPr>
        <p:txBody>
          <a:bodyPr anchorCtr="0" anchor="t" bIns="0" lIns="0" spcFirstLastPara="1" rIns="0" wrap="square" tIns="0">
            <a:noAutofit/>
          </a:bodyPr>
          <a:lstStyle/>
          <a:p>
            <a:pPr indent="0" lvl="0" marL="0" marR="0" rtl="0" algn="l">
              <a:lnSpc>
                <a:spcPct val="130337"/>
              </a:lnSpc>
              <a:spcBef>
                <a:spcPts val="0"/>
              </a:spcBef>
              <a:spcAft>
                <a:spcPts val="0"/>
              </a:spcAft>
              <a:buClr>
                <a:srgbClr val="532418"/>
              </a:buClr>
              <a:buSzPts val="4450"/>
              <a:buFont typeface="Marcellus"/>
              <a:buNone/>
            </a:pPr>
            <a:r>
              <a:rPr b="0" i="0" lang="en-US" sz="4450" u="none" cap="none" strike="noStrike">
                <a:solidFill>
                  <a:srgbClr val="532418"/>
                </a:solidFill>
                <a:latin typeface="Marcellus"/>
                <a:ea typeface="Marcellus"/>
                <a:cs typeface="Marcellus"/>
                <a:sym typeface="Marcellus"/>
              </a:rPr>
              <a:t>Finding the Best Fit: The Hyperplane in MLR</a:t>
            </a:r>
            <a:endParaRPr b="0" i="0" sz="4450" u="none" cap="none" strike="noStrike"/>
          </a:p>
        </p:txBody>
      </p:sp>
      <p:sp>
        <p:nvSpPr>
          <p:cNvPr id="184" name="Google Shape;184;p19"/>
          <p:cNvSpPr/>
          <p:nvPr/>
        </p:nvSpPr>
        <p:spPr>
          <a:xfrm>
            <a:off x="793790" y="3067407"/>
            <a:ext cx="13042821" cy="516017"/>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Think of simple prediction as drawing a straight line. With Multiple Linear Regression (MLR) and many factors, we fit a more complex "hyperplane"—a multi-dimensional line—to capture all the relationships in our data.</a:t>
            </a:r>
            <a:endParaRPr b="0" i="0" sz="1550" u="none" cap="none" strike="noStrike"/>
          </a:p>
        </p:txBody>
      </p:sp>
      <p:sp>
        <p:nvSpPr>
          <p:cNvPr id="185" name="Google Shape;185;p19"/>
          <p:cNvSpPr/>
          <p:nvPr/>
        </p:nvSpPr>
        <p:spPr>
          <a:xfrm>
            <a:off x="793790" y="4005024"/>
            <a:ext cx="3469362" cy="370761"/>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Clr>
                <a:srgbClr val="532418"/>
              </a:buClr>
              <a:buSzPts val="2200"/>
              <a:buFont typeface="Marcellus"/>
              <a:buNone/>
            </a:pPr>
            <a:r>
              <a:rPr b="0" i="0" lang="en-US" sz="2200" u="none" cap="none" strike="noStrike">
                <a:solidFill>
                  <a:srgbClr val="532418"/>
                </a:solidFill>
                <a:latin typeface="Marcellus"/>
                <a:ea typeface="Marcellus"/>
                <a:cs typeface="Marcellus"/>
                <a:sym typeface="Marcellus"/>
              </a:rPr>
              <a:t>The "Recipe" for Prediction</a:t>
            </a:r>
            <a:endParaRPr b="0" i="0" sz="2200" u="none" cap="none" strike="noStrike"/>
          </a:p>
        </p:txBody>
      </p:sp>
      <p:sp>
        <p:nvSpPr>
          <p:cNvPr id="186" name="Google Shape;186;p19"/>
          <p:cNvSpPr/>
          <p:nvPr/>
        </p:nvSpPr>
        <p:spPr>
          <a:xfrm>
            <a:off x="793790" y="4574143"/>
            <a:ext cx="6279356" cy="1290042"/>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MLR's goal is to find the perfect "recipe" (combination of weights) for each factor. It constantly adjusts these weights to make its predictions as close as possible to the actual results. Imagine a chef tweaking ingredients until the dish tastes just right.</a:t>
            </a:r>
            <a:endParaRPr b="0" i="0" sz="1550" u="none" cap="none" strike="noStrike"/>
          </a:p>
        </p:txBody>
      </p:sp>
      <p:sp>
        <p:nvSpPr>
          <p:cNvPr id="187" name="Google Shape;187;p19"/>
          <p:cNvSpPr/>
          <p:nvPr/>
        </p:nvSpPr>
        <p:spPr>
          <a:xfrm>
            <a:off x="7564874" y="4005024"/>
            <a:ext cx="3011091" cy="370761"/>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Clr>
                <a:srgbClr val="532418"/>
              </a:buClr>
              <a:buSzPts val="2200"/>
              <a:buFont typeface="Marcellus"/>
              <a:buNone/>
            </a:pPr>
            <a:r>
              <a:rPr b="0" i="0" lang="en-US" sz="2200" u="none" cap="none" strike="noStrike">
                <a:solidFill>
                  <a:srgbClr val="532418"/>
                </a:solidFill>
                <a:latin typeface="Marcellus"/>
                <a:ea typeface="Marcellus"/>
                <a:cs typeface="Marcellus"/>
                <a:sym typeface="Marcellus"/>
              </a:rPr>
              <a:t>Learning from Mistakes</a:t>
            </a:r>
            <a:endParaRPr b="0" i="0" sz="2200" u="none" cap="none" strike="noStrike"/>
          </a:p>
        </p:txBody>
      </p:sp>
      <p:sp>
        <p:nvSpPr>
          <p:cNvPr id="188" name="Google Shape;188;p19"/>
          <p:cNvSpPr/>
          <p:nvPr/>
        </p:nvSpPr>
        <p:spPr>
          <a:xfrm>
            <a:off x="7564874" y="4574143"/>
            <a:ext cx="6279356" cy="1548051"/>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The model learns by testing different weight combinations, much like a student trying various approaches to a math problem. It identifies and minimizes errors in its predictions. Once trained, it has a reliable formula: give it new information (e.g., house size, location) and it can predict the outcome (e.g., house price).</a:t>
            </a:r>
            <a:endParaRPr b="0" i="0" sz="155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0"/>
          <p:cNvSpPr/>
          <p:nvPr/>
        </p:nvSpPr>
        <p:spPr>
          <a:xfrm>
            <a:off x="793790" y="560784"/>
            <a:ext cx="13042821" cy="1483519"/>
          </a:xfrm>
          <a:prstGeom prst="rect">
            <a:avLst/>
          </a:prstGeom>
          <a:noFill/>
          <a:ln>
            <a:noFill/>
          </a:ln>
        </p:spPr>
        <p:txBody>
          <a:bodyPr anchorCtr="0" anchor="t" bIns="0" lIns="0" spcFirstLastPara="1" rIns="0" wrap="square" tIns="0">
            <a:noAutofit/>
          </a:bodyPr>
          <a:lstStyle/>
          <a:p>
            <a:pPr indent="0" lvl="0" marL="0" marR="0" rtl="0" algn="l">
              <a:lnSpc>
                <a:spcPct val="130337"/>
              </a:lnSpc>
              <a:spcBef>
                <a:spcPts val="0"/>
              </a:spcBef>
              <a:spcAft>
                <a:spcPts val="0"/>
              </a:spcAft>
              <a:buClr>
                <a:srgbClr val="532418"/>
              </a:buClr>
              <a:buSzPts val="4450"/>
              <a:buFont typeface="Marcellus"/>
              <a:buNone/>
            </a:pPr>
            <a:r>
              <a:rPr b="0" i="0" lang="en-US" sz="4450" u="none" cap="none" strike="noStrike">
                <a:solidFill>
                  <a:srgbClr val="532418"/>
                </a:solidFill>
                <a:latin typeface="Marcellus"/>
                <a:ea typeface="Marcellus"/>
                <a:cs typeface="Marcellus"/>
                <a:sym typeface="Marcellus"/>
              </a:rPr>
              <a:t>Example: Predicting House Price with Two Features</a:t>
            </a:r>
            <a:endParaRPr b="0" i="0" sz="4450" u="none" cap="none" strike="noStrike"/>
          </a:p>
        </p:txBody>
      </p:sp>
      <p:sp>
        <p:nvSpPr>
          <p:cNvPr id="195" name="Google Shape;195;p20"/>
          <p:cNvSpPr/>
          <p:nvPr/>
        </p:nvSpPr>
        <p:spPr>
          <a:xfrm>
            <a:off x="793790" y="2441138"/>
            <a:ext cx="13042821" cy="2580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Suppose we want to predict house price using only two features: Size (in sqft) and Number of Bedrooms.</a:t>
            </a:r>
            <a:endParaRPr b="0" i="0" sz="1550" u="none" cap="none" strike="noStrike"/>
          </a:p>
        </p:txBody>
      </p:sp>
      <p:sp>
        <p:nvSpPr>
          <p:cNvPr id="196" name="Google Shape;196;p20"/>
          <p:cNvSpPr/>
          <p:nvPr/>
        </p:nvSpPr>
        <p:spPr>
          <a:xfrm>
            <a:off x="793790" y="2922389"/>
            <a:ext cx="13042821" cy="1041678"/>
          </a:xfrm>
          <a:prstGeom prst="roundRect">
            <a:avLst>
              <a:gd fmla="val 8002" name="adj"/>
            </a:avLst>
          </a:prstGeom>
          <a:solidFill>
            <a:srgbClr val="FFD1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7" name="Google Shape;197;p20"/>
          <p:cNvPicPr preferRelativeResize="0"/>
          <p:nvPr/>
        </p:nvPicPr>
        <p:blipFill rotWithShape="1">
          <a:blip r:embed="rId3">
            <a:alphaModFix/>
          </a:blip>
          <a:srcRect b="0" l="0" r="0" t="0"/>
          <a:stretch/>
        </p:blipFill>
        <p:spPr>
          <a:xfrm>
            <a:off x="992148" y="3187184"/>
            <a:ext cx="248007" cy="198358"/>
          </a:xfrm>
          <a:prstGeom prst="rect">
            <a:avLst/>
          </a:prstGeom>
          <a:noFill/>
          <a:ln>
            <a:noFill/>
          </a:ln>
        </p:spPr>
      </p:pic>
      <p:sp>
        <p:nvSpPr>
          <p:cNvPr id="198" name="Google Shape;198;p20"/>
          <p:cNvSpPr/>
          <p:nvPr/>
        </p:nvSpPr>
        <p:spPr>
          <a:xfrm>
            <a:off x="1438513" y="3170277"/>
            <a:ext cx="12199739" cy="516017"/>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000000"/>
              </a:buClr>
              <a:buSzPts val="1550"/>
              <a:buFont typeface="Montserrat"/>
              <a:buNone/>
            </a:pPr>
            <a:r>
              <a:rPr b="0" i="0" lang="en-US" sz="1550" u="none" cap="none" strike="noStrike">
                <a:solidFill>
                  <a:srgbClr val="000000"/>
                </a:solidFill>
                <a:latin typeface="Montserrat"/>
                <a:ea typeface="Montserrat"/>
                <a:cs typeface="Montserrat"/>
                <a:sym typeface="Montserrat"/>
              </a:rPr>
              <a:t>Your model might learn something like this:Price = 20 + 0.05(Size) + 5(Bedrooms)</a:t>
            </a:r>
            <a:endParaRPr b="0" i="0" sz="1550" u="none" cap="none" strike="noStrike"/>
          </a:p>
        </p:txBody>
      </p:sp>
      <p:sp>
        <p:nvSpPr>
          <p:cNvPr id="199" name="Google Shape;199;p20"/>
          <p:cNvSpPr/>
          <p:nvPr/>
        </p:nvSpPr>
        <p:spPr>
          <a:xfrm>
            <a:off x="793790" y="4385667"/>
            <a:ext cx="2852976" cy="370761"/>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Clr>
                <a:srgbClr val="532418"/>
              </a:buClr>
              <a:buSzPts val="2200"/>
              <a:buFont typeface="Marcellus"/>
              <a:buNone/>
            </a:pPr>
            <a:r>
              <a:rPr b="0" i="0" lang="en-US" sz="2200" u="none" cap="none" strike="noStrike">
                <a:solidFill>
                  <a:srgbClr val="532418"/>
                </a:solidFill>
                <a:latin typeface="Marcellus"/>
                <a:ea typeface="Marcellus"/>
                <a:cs typeface="Marcellus"/>
                <a:sym typeface="Marcellus"/>
              </a:rPr>
              <a:t>For House A:</a:t>
            </a:r>
            <a:endParaRPr b="0" i="0" sz="2200" u="none" cap="none" strike="noStrike"/>
          </a:p>
        </p:txBody>
      </p:sp>
      <p:sp>
        <p:nvSpPr>
          <p:cNvPr id="200" name="Google Shape;200;p20"/>
          <p:cNvSpPr/>
          <p:nvPr/>
        </p:nvSpPr>
        <p:spPr>
          <a:xfrm>
            <a:off x="793790" y="4954786"/>
            <a:ext cx="6279356" cy="258008"/>
          </a:xfrm>
          <a:prstGeom prst="rect">
            <a:avLst/>
          </a:prstGeom>
          <a:noFill/>
          <a:ln>
            <a:noFill/>
          </a:ln>
        </p:spPr>
        <p:txBody>
          <a:bodyPr anchorCtr="0" anchor="t" bIns="0" lIns="0" spcFirstLastPara="1" rIns="0" wrap="square" tIns="0">
            <a:noAutofit/>
          </a:bodyPr>
          <a:lstStyle/>
          <a:p>
            <a:pPr indent="-342900" lvl="0" marL="342900" marR="0" rtl="0" algn="l">
              <a:lnSpc>
                <a:spcPct val="129032"/>
              </a:lnSpc>
              <a:spcBef>
                <a:spcPts val="0"/>
              </a:spcBef>
              <a:spcAft>
                <a:spcPts val="0"/>
              </a:spcAft>
              <a:buClr>
                <a:srgbClr val="67534F"/>
              </a:buClr>
              <a:buSzPts val="1550"/>
              <a:buFont typeface="Montserrat"/>
              <a:buChar char="•"/>
            </a:pPr>
            <a:r>
              <a:rPr b="0" i="0" lang="en-US" sz="1550" u="none" cap="none" strike="noStrike">
                <a:solidFill>
                  <a:srgbClr val="67534F"/>
                </a:solidFill>
                <a:latin typeface="Montserrat"/>
                <a:ea typeface="Montserrat"/>
                <a:cs typeface="Montserrat"/>
                <a:sym typeface="Montserrat"/>
              </a:rPr>
              <a:t>Size = 1000 sqft</a:t>
            </a:r>
            <a:endParaRPr b="0" i="0" sz="1550" u="none" cap="none" strike="noStrike"/>
          </a:p>
        </p:txBody>
      </p:sp>
      <p:sp>
        <p:nvSpPr>
          <p:cNvPr id="201" name="Google Shape;201;p20"/>
          <p:cNvSpPr/>
          <p:nvPr/>
        </p:nvSpPr>
        <p:spPr>
          <a:xfrm>
            <a:off x="793790" y="5282208"/>
            <a:ext cx="6279356" cy="258008"/>
          </a:xfrm>
          <a:prstGeom prst="rect">
            <a:avLst/>
          </a:prstGeom>
          <a:noFill/>
          <a:ln>
            <a:noFill/>
          </a:ln>
        </p:spPr>
        <p:txBody>
          <a:bodyPr anchorCtr="0" anchor="t" bIns="0" lIns="0" spcFirstLastPara="1" rIns="0" wrap="square" tIns="0">
            <a:noAutofit/>
          </a:bodyPr>
          <a:lstStyle/>
          <a:p>
            <a:pPr indent="-342900" lvl="0" marL="342900" marR="0" rtl="0" algn="l">
              <a:lnSpc>
                <a:spcPct val="129032"/>
              </a:lnSpc>
              <a:spcBef>
                <a:spcPts val="0"/>
              </a:spcBef>
              <a:spcAft>
                <a:spcPts val="0"/>
              </a:spcAft>
              <a:buClr>
                <a:srgbClr val="67534F"/>
              </a:buClr>
              <a:buSzPts val="1550"/>
              <a:buFont typeface="Montserrat"/>
              <a:buChar char="•"/>
            </a:pPr>
            <a:r>
              <a:rPr b="0" i="0" lang="en-US" sz="1550" u="none" cap="none" strike="noStrike">
                <a:solidFill>
                  <a:srgbClr val="67534F"/>
                </a:solidFill>
                <a:latin typeface="Montserrat"/>
                <a:ea typeface="Montserrat"/>
                <a:cs typeface="Montserrat"/>
                <a:sym typeface="Montserrat"/>
              </a:rPr>
              <a:t>Bedrooms = 2</a:t>
            </a:r>
            <a:endParaRPr b="0" i="0" sz="1550" u="none" cap="none" strike="noStrike"/>
          </a:p>
        </p:txBody>
      </p:sp>
      <p:sp>
        <p:nvSpPr>
          <p:cNvPr id="202" name="Google Shape;202;p20"/>
          <p:cNvSpPr/>
          <p:nvPr/>
        </p:nvSpPr>
        <p:spPr>
          <a:xfrm>
            <a:off x="793790" y="5718810"/>
            <a:ext cx="6279356" cy="1032034"/>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1" i="0" lang="en-US" sz="1550" u="none" cap="none" strike="noStrike">
                <a:solidFill>
                  <a:srgbClr val="67534F"/>
                </a:solidFill>
                <a:latin typeface="Montserrat"/>
                <a:ea typeface="Montserrat"/>
                <a:cs typeface="Montserrat"/>
                <a:sym typeface="Montserrat"/>
              </a:rPr>
              <a:t>Prediction:</a:t>
            </a:r>
            <a:r>
              <a:rPr b="0" i="0" lang="en-US" sz="1550" u="none" cap="none" strike="noStrike">
                <a:solidFill>
                  <a:srgbClr val="67534F"/>
                </a:solidFill>
                <a:latin typeface="Montserrat"/>
                <a:ea typeface="Montserrat"/>
                <a:cs typeface="Montserrat"/>
                <a:sym typeface="Montserrat"/>
              </a:rPr>
              <a:t>20 + 0.05(1000) + 5(2)= 20 + 50 + 10= 80 lakh Tk</a:t>
            </a:r>
            <a:endParaRPr b="0" i="0" sz="1550" u="none" cap="none" strike="noStrike"/>
          </a:p>
        </p:txBody>
      </p:sp>
      <p:sp>
        <p:nvSpPr>
          <p:cNvPr id="203" name="Google Shape;203;p20"/>
          <p:cNvSpPr/>
          <p:nvPr/>
        </p:nvSpPr>
        <p:spPr>
          <a:xfrm>
            <a:off x="7564874" y="4385667"/>
            <a:ext cx="2852976" cy="370761"/>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Clr>
                <a:srgbClr val="532418"/>
              </a:buClr>
              <a:buSzPts val="2200"/>
              <a:buFont typeface="Marcellus"/>
              <a:buNone/>
            </a:pPr>
            <a:r>
              <a:rPr b="0" i="0" lang="en-US" sz="2200" u="none" cap="none" strike="noStrike">
                <a:solidFill>
                  <a:srgbClr val="532418"/>
                </a:solidFill>
                <a:latin typeface="Marcellus"/>
                <a:ea typeface="Marcellus"/>
                <a:cs typeface="Marcellus"/>
                <a:sym typeface="Marcellus"/>
              </a:rPr>
              <a:t>For House B:</a:t>
            </a:r>
            <a:endParaRPr b="0" i="0" sz="2200" u="none" cap="none" strike="noStrike"/>
          </a:p>
        </p:txBody>
      </p:sp>
      <p:sp>
        <p:nvSpPr>
          <p:cNvPr id="204" name="Google Shape;204;p20"/>
          <p:cNvSpPr/>
          <p:nvPr/>
        </p:nvSpPr>
        <p:spPr>
          <a:xfrm>
            <a:off x="7564874" y="4954786"/>
            <a:ext cx="6279356" cy="258008"/>
          </a:xfrm>
          <a:prstGeom prst="rect">
            <a:avLst/>
          </a:prstGeom>
          <a:noFill/>
          <a:ln>
            <a:noFill/>
          </a:ln>
        </p:spPr>
        <p:txBody>
          <a:bodyPr anchorCtr="0" anchor="t" bIns="0" lIns="0" spcFirstLastPara="1" rIns="0" wrap="square" tIns="0">
            <a:noAutofit/>
          </a:bodyPr>
          <a:lstStyle/>
          <a:p>
            <a:pPr indent="-342900" lvl="0" marL="342900" marR="0" rtl="0" algn="l">
              <a:lnSpc>
                <a:spcPct val="129032"/>
              </a:lnSpc>
              <a:spcBef>
                <a:spcPts val="0"/>
              </a:spcBef>
              <a:spcAft>
                <a:spcPts val="0"/>
              </a:spcAft>
              <a:buClr>
                <a:srgbClr val="67534F"/>
              </a:buClr>
              <a:buSzPts val="1550"/>
              <a:buFont typeface="Montserrat"/>
              <a:buChar char="•"/>
            </a:pPr>
            <a:r>
              <a:rPr b="0" i="0" lang="en-US" sz="1550" u="none" cap="none" strike="noStrike">
                <a:solidFill>
                  <a:srgbClr val="67534F"/>
                </a:solidFill>
                <a:latin typeface="Montserrat"/>
                <a:ea typeface="Montserrat"/>
                <a:cs typeface="Montserrat"/>
                <a:sym typeface="Montserrat"/>
              </a:rPr>
              <a:t>Size = 1500 sqft</a:t>
            </a:r>
            <a:endParaRPr b="0" i="0" sz="1550" u="none" cap="none" strike="noStrike"/>
          </a:p>
        </p:txBody>
      </p:sp>
      <p:sp>
        <p:nvSpPr>
          <p:cNvPr id="205" name="Google Shape;205;p20"/>
          <p:cNvSpPr/>
          <p:nvPr/>
        </p:nvSpPr>
        <p:spPr>
          <a:xfrm>
            <a:off x="7564874" y="5282208"/>
            <a:ext cx="6279356" cy="258008"/>
          </a:xfrm>
          <a:prstGeom prst="rect">
            <a:avLst/>
          </a:prstGeom>
          <a:noFill/>
          <a:ln>
            <a:noFill/>
          </a:ln>
        </p:spPr>
        <p:txBody>
          <a:bodyPr anchorCtr="0" anchor="t" bIns="0" lIns="0" spcFirstLastPara="1" rIns="0" wrap="square" tIns="0">
            <a:noAutofit/>
          </a:bodyPr>
          <a:lstStyle/>
          <a:p>
            <a:pPr indent="-342900" lvl="0" marL="342900" marR="0" rtl="0" algn="l">
              <a:lnSpc>
                <a:spcPct val="129032"/>
              </a:lnSpc>
              <a:spcBef>
                <a:spcPts val="0"/>
              </a:spcBef>
              <a:spcAft>
                <a:spcPts val="0"/>
              </a:spcAft>
              <a:buClr>
                <a:srgbClr val="67534F"/>
              </a:buClr>
              <a:buSzPts val="1550"/>
              <a:buFont typeface="Montserrat"/>
              <a:buChar char="•"/>
            </a:pPr>
            <a:r>
              <a:rPr b="0" i="0" lang="en-US" sz="1550" u="none" cap="none" strike="noStrike">
                <a:solidFill>
                  <a:srgbClr val="67534F"/>
                </a:solidFill>
                <a:latin typeface="Montserrat"/>
                <a:ea typeface="Montserrat"/>
                <a:cs typeface="Montserrat"/>
                <a:sym typeface="Montserrat"/>
              </a:rPr>
              <a:t>Bedrooms = 3</a:t>
            </a:r>
            <a:endParaRPr b="0" i="0" sz="1550" u="none" cap="none" strike="noStrike"/>
          </a:p>
        </p:txBody>
      </p:sp>
      <p:sp>
        <p:nvSpPr>
          <p:cNvPr id="206" name="Google Shape;206;p20"/>
          <p:cNvSpPr/>
          <p:nvPr/>
        </p:nvSpPr>
        <p:spPr>
          <a:xfrm>
            <a:off x="7564874" y="5718810"/>
            <a:ext cx="6279356" cy="1032034"/>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1" i="0" lang="en-US" sz="1550" u="none" cap="none" strike="noStrike">
                <a:solidFill>
                  <a:srgbClr val="67534F"/>
                </a:solidFill>
                <a:latin typeface="Montserrat"/>
                <a:ea typeface="Montserrat"/>
                <a:cs typeface="Montserrat"/>
                <a:sym typeface="Montserrat"/>
              </a:rPr>
              <a:t>Prediction:</a:t>
            </a:r>
            <a:r>
              <a:rPr b="0" i="0" lang="en-US" sz="1550" u="none" cap="none" strike="noStrike">
                <a:solidFill>
                  <a:srgbClr val="67534F"/>
                </a:solidFill>
                <a:latin typeface="Montserrat"/>
                <a:ea typeface="Montserrat"/>
                <a:cs typeface="Montserrat"/>
                <a:sym typeface="Montserrat"/>
              </a:rPr>
              <a:t>20 + 0.05(1500) + 5(3)= 20 + 75 + 15= 110 lakh Tk</a:t>
            </a:r>
            <a:endParaRPr b="0" i="0" sz="1550" u="none" cap="none" strike="noStrike"/>
          </a:p>
        </p:txBody>
      </p:sp>
      <p:sp>
        <p:nvSpPr>
          <p:cNvPr id="207" name="Google Shape;207;p20"/>
          <p:cNvSpPr/>
          <p:nvPr/>
        </p:nvSpPr>
        <p:spPr>
          <a:xfrm>
            <a:off x="793790" y="7152680"/>
            <a:ext cx="13042821" cy="516017"/>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Each combination of features gives a point in space, and the model finds the plane that passes closest to all those points—that's the hyperplane!</a:t>
            </a:r>
            <a:endParaRPr b="0" i="0" sz="155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1"/>
          <p:cNvSpPr/>
          <p:nvPr/>
        </p:nvSpPr>
        <p:spPr>
          <a:xfrm>
            <a:off x="771644" y="531971"/>
            <a:ext cx="6628090" cy="721043"/>
          </a:xfrm>
          <a:prstGeom prst="rect">
            <a:avLst/>
          </a:prstGeom>
          <a:noFill/>
          <a:ln>
            <a:noFill/>
          </a:ln>
        </p:spPr>
        <p:txBody>
          <a:bodyPr anchorCtr="0" anchor="t" bIns="0" lIns="0" spcFirstLastPara="1" rIns="0" wrap="square" tIns="0">
            <a:noAutofit/>
          </a:bodyPr>
          <a:lstStyle/>
          <a:p>
            <a:pPr indent="0" lvl="0" marL="0" marR="0" rtl="0" algn="l">
              <a:lnSpc>
                <a:spcPct val="129885"/>
              </a:lnSpc>
              <a:spcBef>
                <a:spcPts val="0"/>
              </a:spcBef>
              <a:spcAft>
                <a:spcPts val="0"/>
              </a:spcAft>
              <a:buClr>
                <a:srgbClr val="532418"/>
              </a:buClr>
              <a:buSzPts val="4350"/>
              <a:buFont typeface="Marcellus"/>
              <a:buNone/>
            </a:pPr>
            <a:r>
              <a:rPr b="0" i="0" lang="en-US" sz="4350" u="none" cap="none" strike="noStrike">
                <a:solidFill>
                  <a:srgbClr val="532418"/>
                </a:solidFill>
                <a:latin typeface="Marcellus"/>
                <a:ea typeface="Marcellus"/>
                <a:cs typeface="Marcellus"/>
                <a:sym typeface="Marcellus"/>
              </a:rPr>
              <a:t>Visualizing the Hyperplane</a:t>
            </a:r>
            <a:endParaRPr b="0" i="0" sz="4350" u="none" cap="none" strike="noStrike"/>
          </a:p>
        </p:txBody>
      </p:sp>
      <p:pic>
        <p:nvPicPr>
          <p:cNvPr descr="preencoded.png" id="214" name="Google Shape;214;p21"/>
          <p:cNvPicPr preferRelativeResize="0"/>
          <p:nvPr/>
        </p:nvPicPr>
        <p:blipFill rotWithShape="1">
          <a:blip r:embed="rId3">
            <a:alphaModFix/>
          </a:blip>
          <a:srcRect b="0" l="0" r="0" t="0"/>
          <a:stretch/>
        </p:blipFill>
        <p:spPr>
          <a:xfrm>
            <a:off x="771644" y="1759387"/>
            <a:ext cx="5101233" cy="5253395"/>
          </a:xfrm>
          <a:prstGeom prst="rect">
            <a:avLst/>
          </a:prstGeom>
          <a:noFill/>
          <a:ln>
            <a:noFill/>
          </a:ln>
        </p:spPr>
      </p:pic>
      <p:sp>
        <p:nvSpPr>
          <p:cNvPr id="215" name="Google Shape;215;p21"/>
          <p:cNvSpPr/>
          <p:nvPr/>
        </p:nvSpPr>
        <p:spPr>
          <a:xfrm>
            <a:off x="6744533" y="1715929"/>
            <a:ext cx="7121723" cy="50149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7534F"/>
              </a:buClr>
              <a:buSzPts val="1500"/>
              <a:buFont typeface="Montserrat"/>
              <a:buNone/>
            </a:pPr>
            <a:r>
              <a:rPr b="0" i="0" lang="en-US" sz="1500" u="none" cap="none" strike="noStrike">
                <a:solidFill>
                  <a:srgbClr val="67534F"/>
                </a:solidFill>
                <a:latin typeface="Montserrat"/>
                <a:ea typeface="Montserrat"/>
                <a:cs typeface="Montserrat"/>
                <a:sym typeface="Montserrat"/>
              </a:rPr>
              <a:t>This 3D graph shows how Multiple Linear Regression works with two features (Size and Bedrooms) to predict house prices.</a:t>
            </a:r>
            <a:endParaRPr b="0" i="0" sz="1500" u="none" cap="none" strike="noStrike"/>
          </a:p>
        </p:txBody>
      </p:sp>
      <p:sp>
        <p:nvSpPr>
          <p:cNvPr id="216" name="Google Shape;216;p21"/>
          <p:cNvSpPr/>
          <p:nvPr/>
        </p:nvSpPr>
        <p:spPr>
          <a:xfrm>
            <a:off x="6744533" y="2391013"/>
            <a:ext cx="7121723" cy="250746"/>
          </a:xfrm>
          <a:prstGeom prst="rect">
            <a:avLst/>
          </a:prstGeom>
          <a:noFill/>
          <a:ln>
            <a:noFill/>
          </a:ln>
        </p:spPr>
        <p:txBody>
          <a:bodyPr anchorCtr="0" anchor="t" bIns="0" lIns="0" spcFirstLastPara="1" rIns="0" wrap="square" tIns="0">
            <a:noAutofit/>
          </a:bodyPr>
          <a:lstStyle/>
          <a:p>
            <a:pPr indent="-342900" lvl="0" marL="342900" marR="0" rtl="0" algn="l">
              <a:lnSpc>
                <a:spcPct val="130000"/>
              </a:lnSpc>
              <a:spcBef>
                <a:spcPts val="0"/>
              </a:spcBef>
              <a:spcAft>
                <a:spcPts val="0"/>
              </a:spcAft>
              <a:buClr>
                <a:srgbClr val="67534F"/>
              </a:buClr>
              <a:buSzPts val="1500"/>
              <a:buFont typeface="Montserrat"/>
              <a:buChar char="•"/>
            </a:pPr>
            <a:r>
              <a:rPr b="0" i="0" lang="en-US" sz="1500" u="none" cap="none" strike="noStrike">
                <a:solidFill>
                  <a:srgbClr val="67534F"/>
                </a:solidFill>
                <a:latin typeface="Montserrat"/>
                <a:ea typeface="Montserrat"/>
                <a:cs typeface="Montserrat"/>
                <a:sym typeface="Montserrat"/>
              </a:rPr>
              <a:t>Each blue dot represents a real house with its actual price</a:t>
            </a:r>
            <a:endParaRPr b="0" i="0" sz="1500" u="none" cap="none" strike="noStrike"/>
          </a:p>
        </p:txBody>
      </p:sp>
      <p:sp>
        <p:nvSpPr>
          <p:cNvPr id="217" name="Google Shape;217;p21"/>
          <p:cNvSpPr/>
          <p:nvPr/>
        </p:nvSpPr>
        <p:spPr>
          <a:xfrm>
            <a:off x="6744533" y="2709267"/>
            <a:ext cx="7121723" cy="501491"/>
          </a:xfrm>
          <a:prstGeom prst="rect">
            <a:avLst/>
          </a:prstGeom>
          <a:noFill/>
          <a:ln>
            <a:noFill/>
          </a:ln>
        </p:spPr>
        <p:txBody>
          <a:bodyPr anchorCtr="0" anchor="t" bIns="0" lIns="0" spcFirstLastPara="1" rIns="0" wrap="square" tIns="0">
            <a:noAutofit/>
          </a:bodyPr>
          <a:lstStyle/>
          <a:p>
            <a:pPr indent="-342900" lvl="0" marL="342900" marR="0" rtl="0" algn="l">
              <a:lnSpc>
                <a:spcPct val="130000"/>
              </a:lnSpc>
              <a:spcBef>
                <a:spcPts val="0"/>
              </a:spcBef>
              <a:spcAft>
                <a:spcPts val="0"/>
              </a:spcAft>
              <a:buClr>
                <a:srgbClr val="67534F"/>
              </a:buClr>
              <a:buSzPts val="1500"/>
              <a:buFont typeface="Montserrat"/>
              <a:buChar char="•"/>
            </a:pPr>
            <a:r>
              <a:rPr b="0" i="0" lang="en-US" sz="1500" u="none" cap="none" strike="noStrike">
                <a:solidFill>
                  <a:srgbClr val="67534F"/>
                </a:solidFill>
                <a:latin typeface="Montserrat"/>
                <a:ea typeface="Montserrat"/>
                <a:cs typeface="Montserrat"/>
                <a:sym typeface="Montserrat"/>
              </a:rPr>
              <a:t>The flat blue plane is the hyperplane—the model's best guess at the relationship</a:t>
            </a:r>
            <a:endParaRPr b="0" i="0" sz="1500" u="none" cap="none" strike="noStrike"/>
          </a:p>
        </p:txBody>
      </p:sp>
      <p:sp>
        <p:nvSpPr>
          <p:cNvPr id="218" name="Google Shape;218;p21"/>
          <p:cNvSpPr/>
          <p:nvPr/>
        </p:nvSpPr>
        <p:spPr>
          <a:xfrm>
            <a:off x="6744533" y="3278267"/>
            <a:ext cx="7121723" cy="250746"/>
          </a:xfrm>
          <a:prstGeom prst="rect">
            <a:avLst/>
          </a:prstGeom>
          <a:noFill/>
          <a:ln>
            <a:noFill/>
          </a:ln>
        </p:spPr>
        <p:txBody>
          <a:bodyPr anchorCtr="0" anchor="t" bIns="0" lIns="0" spcFirstLastPara="1" rIns="0" wrap="square" tIns="0">
            <a:noAutofit/>
          </a:bodyPr>
          <a:lstStyle/>
          <a:p>
            <a:pPr indent="-342900" lvl="0" marL="342900" marR="0" rtl="0" algn="l">
              <a:lnSpc>
                <a:spcPct val="130000"/>
              </a:lnSpc>
              <a:spcBef>
                <a:spcPts val="0"/>
              </a:spcBef>
              <a:spcAft>
                <a:spcPts val="0"/>
              </a:spcAft>
              <a:buClr>
                <a:srgbClr val="67534F"/>
              </a:buClr>
              <a:buSzPts val="1500"/>
              <a:buFont typeface="Montserrat"/>
              <a:buChar char="•"/>
            </a:pPr>
            <a:r>
              <a:rPr b="0" i="0" lang="en-US" sz="1500" u="none" cap="none" strike="noStrike">
                <a:solidFill>
                  <a:srgbClr val="67534F"/>
                </a:solidFill>
                <a:latin typeface="Montserrat"/>
                <a:ea typeface="Montserrat"/>
                <a:cs typeface="Montserrat"/>
                <a:sym typeface="Montserrat"/>
              </a:rPr>
              <a:t>The plane tries to get as close as possible to all the dots</a:t>
            </a:r>
            <a:endParaRPr b="0" i="0" sz="1500" u="none" cap="none" strike="noStrike"/>
          </a:p>
        </p:txBody>
      </p:sp>
      <p:sp>
        <p:nvSpPr>
          <p:cNvPr id="219" name="Google Shape;219;p21"/>
          <p:cNvSpPr/>
          <p:nvPr/>
        </p:nvSpPr>
        <p:spPr>
          <a:xfrm>
            <a:off x="6744533" y="3702606"/>
            <a:ext cx="7121723" cy="25074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SzPts val="1500"/>
              <a:buFont typeface="Arial"/>
              <a:buNone/>
            </a:pPr>
            <a:r>
              <a:t/>
            </a:r>
            <a:endParaRPr b="0" i="0" sz="1500" u="none" cap="none" strike="noStrike"/>
          </a:p>
        </p:txBody>
      </p:sp>
      <p:sp>
        <p:nvSpPr>
          <p:cNvPr id="220" name="Google Shape;220;p21"/>
          <p:cNvSpPr/>
          <p:nvPr/>
        </p:nvSpPr>
        <p:spPr>
          <a:xfrm>
            <a:off x="6744533" y="4126944"/>
            <a:ext cx="7121723" cy="25074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SzPts val="1500"/>
              <a:buFont typeface="Arial"/>
              <a:buNone/>
            </a:pPr>
            <a:r>
              <a:t/>
            </a:r>
            <a:endParaRPr b="0" i="0" sz="1500" u="none" cap="none" strike="noStrike"/>
          </a:p>
        </p:txBody>
      </p:sp>
      <p:sp>
        <p:nvSpPr>
          <p:cNvPr id="221" name="Google Shape;221;p21"/>
          <p:cNvSpPr/>
          <p:nvPr/>
        </p:nvSpPr>
        <p:spPr>
          <a:xfrm>
            <a:off x="6744533" y="4551283"/>
            <a:ext cx="7121723" cy="100298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7534F"/>
              </a:buClr>
              <a:buSzPts val="1500"/>
              <a:buFont typeface="Montserrat"/>
              <a:buNone/>
            </a:pPr>
            <a:r>
              <a:rPr b="0" i="0" lang="en-US" sz="1500" u="none" cap="none" strike="noStrike">
                <a:solidFill>
                  <a:srgbClr val="67534F"/>
                </a:solidFill>
                <a:latin typeface="Montserrat"/>
                <a:ea typeface="Montserrat"/>
                <a:cs typeface="Montserrat"/>
                <a:sym typeface="Montserrat"/>
              </a:rPr>
              <a:t>Think of it like this: if you know a house's size and number of bedrooms, you can find that spot on the plane and read off the predicted price. The model learned the perfect angle and position for this plane by studying all the real house data (the dots).</a:t>
            </a:r>
            <a:endParaRPr b="0" i="0" sz="1500" u="none" cap="none" strike="noStrike"/>
          </a:p>
        </p:txBody>
      </p:sp>
      <p:sp>
        <p:nvSpPr>
          <p:cNvPr id="222" name="Google Shape;222;p21"/>
          <p:cNvSpPr/>
          <p:nvPr/>
        </p:nvSpPr>
        <p:spPr>
          <a:xfrm>
            <a:off x="771644" y="7446883"/>
            <a:ext cx="13087112" cy="25074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SzPts val="1500"/>
              <a:buFont typeface="Arial"/>
              <a:buNone/>
            </a:pPr>
            <a:r>
              <a:t/>
            </a:r>
            <a:endParaRPr b="0" i="0" sz="1500" u="none" cap="none" strike="no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2"/>
          <p:cNvSpPr/>
          <p:nvPr/>
        </p:nvSpPr>
        <p:spPr>
          <a:xfrm>
            <a:off x="727829" y="500301"/>
            <a:ext cx="8293656" cy="680085"/>
          </a:xfrm>
          <a:prstGeom prst="rect">
            <a:avLst/>
          </a:prstGeom>
          <a:noFill/>
          <a:ln>
            <a:noFill/>
          </a:ln>
        </p:spPr>
        <p:txBody>
          <a:bodyPr anchorCtr="0" anchor="t" bIns="0" lIns="0" spcFirstLastPara="1" rIns="0" wrap="square" tIns="0">
            <a:noAutofit/>
          </a:bodyPr>
          <a:lstStyle/>
          <a:p>
            <a:pPr indent="0" lvl="0" marL="0" marR="0" rtl="0" algn="l">
              <a:lnSpc>
                <a:spcPct val="130487"/>
              </a:lnSpc>
              <a:spcBef>
                <a:spcPts val="0"/>
              </a:spcBef>
              <a:spcAft>
                <a:spcPts val="0"/>
              </a:spcAft>
              <a:buClr>
                <a:srgbClr val="532418"/>
              </a:buClr>
              <a:buSzPts val="4100"/>
              <a:buFont typeface="Marcellus"/>
              <a:buNone/>
            </a:pPr>
            <a:r>
              <a:rPr b="0" i="0" lang="en-US" sz="4100" u="none" cap="none" strike="noStrike">
                <a:solidFill>
                  <a:srgbClr val="532418"/>
                </a:solidFill>
                <a:latin typeface="Marcellus"/>
                <a:ea typeface="Marcellus"/>
                <a:cs typeface="Marcellus"/>
                <a:sym typeface="Marcellus"/>
              </a:rPr>
              <a:t>Building Our First Predictive Model</a:t>
            </a:r>
            <a:endParaRPr b="0" i="0" sz="4100" u="none" cap="none" strike="noStrike"/>
          </a:p>
        </p:txBody>
      </p:sp>
      <p:sp>
        <p:nvSpPr>
          <p:cNvPr id="229" name="Google Shape;229;p22"/>
          <p:cNvSpPr/>
          <p:nvPr/>
        </p:nvSpPr>
        <p:spPr>
          <a:xfrm>
            <a:off x="727829" y="1453277"/>
            <a:ext cx="13174742" cy="236458"/>
          </a:xfrm>
          <a:prstGeom prst="rect">
            <a:avLst/>
          </a:prstGeom>
          <a:noFill/>
          <a:ln>
            <a:noFill/>
          </a:ln>
        </p:spPr>
        <p:txBody>
          <a:bodyPr anchorCtr="0" anchor="t" bIns="0" lIns="0" spcFirstLastPara="1" rIns="0" wrap="square" tIns="0">
            <a:noAutofit/>
          </a:bodyPr>
          <a:lstStyle/>
          <a:p>
            <a:pPr indent="0" lvl="0" marL="0" marR="0" rtl="0" algn="l">
              <a:lnSpc>
                <a:spcPct val="132142"/>
              </a:lnSpc>
              <a:spcBef>
                <a:spcPts val="0"/>
              </a:spcBef>
              <a:spcAft>
                <a:spcPts val="0"/>
              </a:spcAft>
              <a:buClr>
                <a:srgbClr val="67534F"/>
              </a:buClr>
              <a:buSzPts val="1400"/>
              <a:buFont typeface="Montserrat"/>
              <a:buNone/>
            </a:pPr>
            <a:r>
              <a:rPr b="0" i="0" lang="en-US" sz="1400" u="none" cap="none" strike="noStrike">
                <a:solidFill>
                  <a:srgbClr val="67534F"/>
                </a:solidFill>
                <a:latin typeface="Montserrat"/>
                <a:ea typeface="Montserrat"/>
                <a:cs typeface="Montserrat"/>
                <a:sym typeface="Montserrat"/>
              </a:rPr>
              <a:t>Time to apply what we've learned! Let's build our first predictive model step-by-step.</a:t>
            </a:r>
            <a:endParaRPr b="0" i="0" sz="1400" u="none" cap="none" strike="noStrike"/>
          </a:p>
        </p:txBody>
      </p:sp>
      <p:sp>
        <p:nvSpPr>
          <p:cNvPr id="230" name="Google Shape;230;p22"/>
          <p:cNvSpPr/>
          <p:nvPr/>
        </p:nvSpPr>
        <p:spPr>
          <a:xfrm>
            <a:off x="727829" y="1894403"/>
            <a:ext cx="13174742" cy="1095137"/>
          </a:xfrm>
          <a:prstGeom prst="roundRect">
            <a:avLst>
              <a:gd fmla="val 6979" name="adj"/>
            </a:avLst>
          </a:prstGeom>
          <a:solidFill>
            <a:srgbClr val="FFFFF4">
              <a:alpha val="94901"/>
            </a:srgbClr>
          </a:solidFill>
          <a:ln cap="flat" cmpd="sng" w="22850">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2"/>
          <p:cNvSpPr/>
          <p:nvPr/>
        </p:nvSpPr>
        <p:spPr>
          <a:xfrm>
            <a:off x="750689" y="1917263"/>
            <a:ext cx="727829" cy="1049417"/>
          </a:xfrm>
          <a:prstGeom prst="roundRect">
            <a:avLst>
              <a:gd fmla="val 6731" name="adj"/>
            </a:avLst>
          </a:prstGeom>
          <a:solidFill>
            <a:srgbClr val="FFF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2"/>
          <p:cNvSpPr/>
          <p:nvPr/>
        </p:nvSpPr>
        <p:spPr>
          <a:xfrm>
            <a:off x="970478" y="2264569"/>
            <a:ext cx="272891" cy="35480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7534F"/>
              </a:buClr>
              <a:buSzPts val="2100"/>
              <a:buFont typeface="Marcellus"/>
              <a:buNone/>
            </a:pPr>
            <a:r>
              <a:rPr b="0" i="0" lang="en-US" sz="2100" u="none" cap="none" strike="noStrike">
                <a:solidFill>
                  <a:srgbClr val="67534F"/>
                </a:solidFill>
                <a:latin typeface="Marcellus"/>
                <a:ea typeface="Marcellus"/>
                <a:cs typeface="Marcellus"/>
                <a:sym typeface="Marcellus"/>
              </a:rPr>
              <a:t>1</a:t>
            </a:r>
            <a:endParaRPr b="0" i="0" sz="2100" u="none" cap="none" strike="noStrike"/>
          </a:p>
        </p:txBody>
      </p:sp>
      <p:sp>
        <p:nvSpPr>
          <p:cNvPr id="233" name="Google Shape;233;p22"/>
          <p:cNvSpPr/>
          <p:nvPr/>
        </p:nvSpPr>
        <p:spPr>
          <a:xfrm>
            <a:off x="1660446" y="2099191"/>
            <a:ext cx="2615684" cy="340043"/>
          </a:xfrm>
          <a:prstGeom prst="rect">
            <a:avLst/>
          </a:prstGeom>
          <a:noFill/>
          <a:ln>
            <a:noFill/>
          </a:ln>
        </p:spPr>
        <p:txBody>
          <a:bodyPr anchorCtr="0" anchor="t" bIns="0" lIns="0" spcFirstLastPara="1" rIns="0" wrap="square" tIns="0">
            <a:noAutofit/>
          </a:bodyPr>
          <a:lstStyle/>
          <a:p>
            <a:pPr indent="0" lvl="0" marL="0" marR="0" rtl="0" algn="l">
              <a:lnSpc>
                <a:spcPct val="129268"/>
              </a:lnSpc>
              <a:spcBef>
                <a:spcPts val="0"/>
              </a:spcBef>
              <a:spcAft>
                <a:spcPts val="0"/>
              </a:spcAft>
              <a:buClr>
                <a:srgbClr val="67534F"/>
              </a:buClr>
              <a:buSzPts val="2050"/>
              <a:buFont typeface="Marcellus"/>
              <a:buNone/>
            </a:pPr>
            <a:r>
              <a:rPr b="0" i="0" lang="en-US" sz="2050" u="none" cap="none" strike="noStrike">
                <a:solidFill>
                  <a:srgbClr val="67534F"/>
                </a:solidFill>
                <a:latin typeface="Marcellus"/>
                <a:ea typeface="Marcellus"/>
                <a:cs typeface="Marcellus"/>
                <a:sym typeface="Marcellus"/>
              </a:rPr>
              <a:t>Gather Data</a:t>
            </a:r>
            <a:endParaRPr b="0" i="0" sz="2050" u="none" cap="none" strike="noStrike"/>
          </a:p>
        </p:txBody>
      </p:sp>
      <p:sp>
        <p:nvSpPr>
          <p:cNvPr id="234" name="Google Shape;234;p22"/>
          <p:cNvSpPr/>
          <p:nvPr/>
        </p:nvSpPr>
        <p:spPr>
          <a:xfrm>
            <a:off x="1660446" y="2548295"/>
            <a:ext cx="12037338" cy="236458"/>
          </a:xfrm>
          <a:prstGeom prst="rect">
            <a:avLst/>
          </a:prstGeom>
          <a:noFill/>
          <a:ln>
            <a:noFill/>
          </a:ln>
        </p:spPr>
        <p:txBody>
          <a:bodyPr anchorCtr="0" anchor="t" bIns="0" lIns="0" spcFirstLastPara="1" rIns="0" wrap="square" tIns="0">
            <a:noAutofit/>
          </a:bodyPr>
          <a:lstStyle/>
          <a:p>
            <a:pPr indent="0" lvl="0" marL="0" marR="0" rtl="0" algn="l">
              <a:lnSpc>
                <a:spcPct val="132142"/>
              </a:lnSpc>
              <a:spcBef>
                <a:spcPts val="0"/>
              </a:spcBef>
              <a:spcAft>
                <a:spcPts val="0"/>
              </a:spcAft>
              <a:buClr>
                <a:srgbClr val="67534F"/>
              </a:buClr>
              <a:buSzPts val="1400"/>
              <a:buFont typeface="Montserrat"/>
              <a:buNone/>
            </a:pPr>
            <a:r>
              <a:rPr b="0" i="0" lang="en-US" sz="1400" u="none" cap="none" strike="noStrike">
                <a:solidFill>
                  <a:srgbClr val="67534F"/>
                </a:solidFill>
                <a:latin typeface="Montserrat"/>
                <a:ea typeface="Montserrat"/>
                <a:cs typeface="Montserrat"/>
                <a:sym typeface="Montserrat"/>
              </a:rPr>
              <a:t>Collect all relevant information.</a:t>
            </a:r>
            <a:endParaRPr b="0" i="0" sz="1400" u="none" cap="none" strike="noStrike"/>
          </a:p>
        </p:txBody>
      </p:sp>
      <p:sp>
        <p:nvSpPr>
          <p:cNvPr id="235" name="Google Shape;235;p22"/>
          <p:cNvSpPr/>
          <p:nvPr/>
        </p:nvSpPr>
        <p:spPr>
          <a:xfrm>
            <a:off x="727829" y="3171468"/>
            <a:ext cx="13174742" cy="1095137"/>
          </a:xfrm>
          <a:prstGeom prst="roundRect">
            <a:avLst>
              <a:gd fmla="val 6979" name="adj"/>
            </a:avLst>
          </a:prstGeom>
          <a:solidFill>
            <a:srgbClr val="FFFFF4">
              <a:alpha val="94901"/>
            </a:srgbClr>
          </a:solidFill>
          <a:ln cap="flat" cmpd="sng" w="22850">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2"/>
          <p:cNvSpPr/>
          <p:nvPr/>
        </p:nvSpPr>
        <p:spPr>
          <a:xfrm>
            <a:off x="750689" y="3194328"/>
            <a:ext cx="727829" cy="1049417"/>
          </a:xfrm>
          <a:prstGeom prst="roundRect">
            <a:avLst>
              <a:gd fmla="val 6731" name="adj"/>
            </a:avLst>
          </a:prstGeom>
          <a:solidFill>
            <a:srgbClr val="FFF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2"/>
          <p:cNvSpPr/>
          <p:nvPr/>
        </p:nvSpPr>
        <p:spPr>
          <a:xfrm>
            <a:off x="970478" y="3541633"/>
            <a:ext cx="272891" cy="35480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7534F"/>
              </a:buClr>
              <a:buSzPts val="2100"/>
              <a:buFont typeface="Marcellus"/>
              <a:buNone/>
            </a:pPr>
            <a:r>
              <a:rPr b="0" i="0" lang="en-US" sz="2100" u="none" cap="none" strike="noStrike">
                <a:solidFill>
                  <a:srgbClr val="67534F"/>
                </a:solidFill>
                <a:latin typeface="Marcellus"/>
                <a:ea typeface="Marcellus"/>
                <a:cs typeface="Marcellus"/>
                <a:sym typeface="Marcellus"/>
              </a:rPr>
              <a:t>2</a:t>
            </a:r>
            <a:endParaRPr b="0" i="0" sz="2100" u="none" cap="none" strike="noStrike"/>
          </a:p>
        </p:txBody>
      </p:sp>
      <p:sp>
        <p:nvSpPr>
          <p:cNvPr id="238" name="Google Shape;238;p22"/>
          <p:cNvSpPr/>
          <p:nvPr/>
        </p:nvSpPr>
        <p:spPr>
          <a:xfrm>
            <a:off x="1660446" y="3376255"/>
            <a:ext cx="2615684" cy="340043"/>
          </a:xfrm>
          <a:prstGeom prst="rect">
            <a:avLst/>
          </a:prstGeom>
          <a:noFill/>
          <a:ln>
            <a:noFill/>
          </a:ln>
        </p:spPr>
        <p:txBody>
          <a:bodyPr anchorCtr="0" anchor="t" bIns="0" lIns="0" spcFirstLastPara="1" rIns="0" wrap="square" tIns="0">
            <a:noAutofit/>
          </a:bodyPr>
          <a:lstStyle/>
          <a:p>
            <a:pPr indent="0" lvl="0" marL="0" marR="0" rtl="0" algn="l">
              <a:lnSpc>
                <a:spcPct val="129268"/>
              </a:lnSpc>
              <a:spcBef>
                <a:spcPts val="0"/>
              </a:spcBef>
              <a:spcAft>
                <a:spcPts val="0"/>
              </a:spcAft>
              <a:buClr>
                <a:srgbClr val="67534F"/>
              </a:buClr>
              <a:buSzPts val="2050"/>
              <a:buFont typeface="Marcellus"/>
              <a:buNone/>
            </a:pPr>
            <a:r>
              <a:rPr b="0" i="0" lang="en-US" sz="2050" u="none" cap="none" strike="noStrike">
                <a:solidFill>
                  <a:srgbClr val="67534F"/>
                </a:solidFill>
                <a:latin typeface="Marcellus"/>
                <a:ea typeface="Marcellus"/>
                <a:cs typeface="Marcellus"/>
                <a:sym typeface="Marcellus"/>
              </a:rPr>
              <a:t>Understand Data</a:t>
            </a:r>
            <a:endParaRPr b="0" i="0" sz="2050" u="none" cap="none" strike="noStrike"/>
          </a:p>
        </p:txBody>
      </p:sp>
      <p:sp>
        <p:nvSpPr>
          <p:cNvPr id="239" name="Google Shape;239;p22"/>
          <p:cNvSpPr/>
          <p:nvPr/>
        </p:nvSpPr>
        <p:spPr>
          <a:xfrm>
            <a:off x="1660446" y="3825359"/>
            <a:ext cx="12037338" cy="236458"/>
          </a:xfrm>
          <a:prstGeom prst="rect">
            <a:avLst/>
          </a:prstGeom>
          <a:noFill/>
          <a:ln>
            <a:noFill/>
          </a:ln>
        </p:spPr>
        <p:txBody>
          <a:bodyPr anchorCtr="0" anchor="t" bIns="0" lIns="0" spcFirstLastPara="1" rIns="0" wrap="square" tIns="0">
            <a:noAutofit/>
          </a:bodyPr>
          <a:lstStyle/>
          <a:p>
            <a:pPr indent="0" lvl="0" marL="0" marR="0" rtl="0" algn="l">
              <a:lnSpc>
                <a:spcPct val="132142"/>
              </a:lnSpc>
              <a:spcBef>
                <a:spcPts val="0"/>
              </a:spcBef>
              <a:spcAft>
                <a:spcPts val="0"/>
              </a:spcAft>
              <a:buClr>
                <a:srgbClr val="67534F"/>
              </a:buClr>
              <a:buSzPts val="1400"/>
              <a:buFont typeface="Montserrat"/>
              <a:buNone/>
            </a:pPr>
            <a:r>
              <a:rPr b="0" i="0" lang="en-US" sz="1400" u="none" cap="none" strike="noStrike">
                <a:solidFill>
                  <a:srgbClr val="67534F"/>
                </a:solidFill>
                <a:latin typeface="Montserrat"/>
                <a:ea typeface="Montserrat"/>
                <a:cs typeface="Montserrat"/>
                <a:sym typeface="Montserrat"/>
              </a:rPr>
              <a:t>Examine trends and patterns.</a:t>
            </a:r>
            <a:endParaRPr b="0" i="0" sz="1400" u="none" cap="none" strike="noStrike"/>
          </a:p>
        </p:txBody>
      </p:sp>
      <p:sp>
        <p:nvSpPr>
          <p:cNvPr id="240" name="Google Shape;240;p22"/>
          <p:cNvSpPr/>
          <p:nvPr/>
        </p:nvSpPr>
        <p:spPr>
          <a:xfrm>
            <a:off x="727829" y="4448532"/>
            <a:ext cx="13174742" cy="1095137"/>
          </a:xfrm>
          <a:prstGeom prst="roundRect">
            <a:avLst>
              <a:gd fmla="val 6979" name="adj"/>
            </a:avLst>
          </a:prstGeom>
          <a:solidFill>
            <a:srgbClr val="FFFFF4">
              <a:alpha val="94901"/>
            </a:srgbClr>
          </a:solidFill>
          <a:ln cap="flat" cmpd="sng" w="22850">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2"/>
          <p:cNvSpPr/>
          <p:nvPr/>
        </p:nvSpPr>
        <p:spPr>
          <a:xfrm>
            <a:off x="750689" y="4471392"/>
            <a:ext cx="727829" cy="1049417"/>
          </a:xfrm>
          <a:prstGeom prst="roundRect">
            <a:avLst>
              <a:gd fmla="val 6731" name="adj"/>
            </a:avLst>
          </a:prstGeom>
          <a:solidFill>
            <a:srgbClr val="FFF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2"/>
          <p:cNvSpPr/>
          <p:nvPr/>
        </p:nvSpPr>
        <p:spPr>
          <a:xfrm>
            <a:off x="970478" y="4818698"/>
            <a:ext cx="272891" cy="35480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7534F"/>
              </a:buClr>
              <a:buSzPts val="2100"/>
              <a:buFont typeface="Marcellus"/>
              <a:buNone/>
            </a:pPr>
            <a:r>
              <a:rPr b="0" i="0" lang="en-US" sz="2100" u="none" cap="none" strike="noStrike">
                <a:solidFill>
                  <a:srgbClr val="67534F"/>
                </a:solidFill>
                <a:latin typeface="Marcellus"/>
                <a:ea typeface="Marcellus"/>
                <a:cs typeface="Marcellus"/>
                <a:sym typeface="Marcellus"/>
              </a:rPr>
              <a:t>3</a:t>
            </a:r>
            <a:endParaRPr b="0" i="0" sz="2100" u="none" cap="none" strike="noStrike"/>
          </a:p>
        </p:txBody>
      </p:sp>
      <p:sp>
        <p:nvSpPr>
          <p:cNvPr id="243" name="Google Shape;243;p22"/>
          <p:cNvSpPr/>
          <p:nvPr/>
        </p:nvSpPr>
        <p:spPr>
          <a:xfrm>
            <a:off x="1660446" y="4653320"/>
            <a:ext cx="2615684" cy="340043"/>
          </a:xfrm>
          <a:prstGeom prst="rect">
            <a:avLst/>
          </a:prstGeom>
          <a:noFill/>
          <a:ln>
            <a:noFill/>
          </a:ln>
        </p:spPr>
        <p:txBody>
          <a:bodyPr anchorCtr="0" anchor="t" bIns="0" lIns="0" spcFirstLastPara="1" rIns="0" wrap="square" tIns="0">
            <a:noAutofit/>
          </a:bodyPr>
          <a:lstStyle/>
          <a:p>
            <a:pPr indent="0" lvl="0" marL="0" marR="0" rtl="0" algn="l">
              <a:lnSpc>
                <a:spcPct val="129268"/>
              </a:lnSpc>
              <a:spcBef>
                <a:spcPts val="0"/>
              </a:spcBef>
              <a:spcAft>
                <a:spcPts val="0"/>
              </a:spcAft>
              <a:buClr>
                <a:srgbClr val="67534F"/>
              </a:buClr>
              <a:buSzPts val="2050"/>
              <a:buFont typeface="Marcellus"/>
              <a:buNone/>
            </a:pPr>
            <a:r>
              <a:rPr b="0" i="0" lang="en-US" sz="2050" u="none" cap="none" strike="noStrike">
                <a:solidFill>
                  <a:srgbClr val="67534F"/>
                </a:solidFill>
                <a:latin typeface="Marcellus"/>
                <a:ea typeface="Marcellus"/>
                <a:cs typeface="Marcellus"/>
                <a:sym typeface="Marcellus"/>
              </a:rPr>
              <a:t>Organize Data</a:t>
            </a:r>
            <a:endParaRPr b="0" i="0" sz="2050" u="none" cap="none" strike="noStrike"/>
          </a:p>
        </p:txBody>
      </p:sp>
      <p:sp>
        <p:nvSpPr>
          <p:cNvPr id="244" name="Google Shape;244;p22"/>
          <p:cNvSpPr/>
          <p:nvPr/>
        </p:nvSpPr>
        <p:spPr>
          <a:xfrm>
            <a:off x="1660446" y="5102423"/>
            <a:ext cx="12037338" cy="236458"/>
          </a:xfrm>
          <a:prstGeom prst="rect">
            <a:avLst/>
          </a:prstGeom>
          <a:noFill/>
          <a:ln>
            <a:noFill/>
          </a:ln>
        </p:spPr>
        <p:txBody>
          <a:bodyPr anchorCtr="0" anchor="t" bIns="0" lIns="0" spcFirstLastPara="1" rIns="0" wrap="square" tIns="0">
            <a:noAutofit/>
          </a:bodyPr>
          <a:lstStyle/>
          <a:p>
            <a:pPr indent="0" lvl="0" marL="0" marR="0" rtl="0" algn="l">
              <a:lnSpc>
                <a:spcPct val="132142"/>
              </a:lnSpc>
              <a:spcBef>
                <a:spcPts val="0"/>
              </a:spcBef>
              <a:spcAft>
                <a:spcPts val="0"/>
              </a:spcAft>
              <a:buClr>
                <a:srgbClr val="67534F"/>
              </a:buClr>
              <a:buSzPts val="1400"/>
              <a:buFont typeface="Montserrat"/>
              <a:buNone/>
            </a:pPr>
            <a:r>
              <a:rPr b="0" i="0" lang="en-US" sz="1400" u="none" cap="none" strike="noStrike">
                <a:solidFill>
                  <a:srgbClr val="67534F"/>
                </a:solidFill>
                <a:latin typeface="Montserrat"/>
                <a:ea typeface="Montserrat"/>
                <a:cs typeface="Montserrat"/>
                <a:sym typeface="Montserrat"/>
              </a:rPr>
              <a:t>Separate what to predict from what predicts it.</a:t>
            </a:r>
            <a:endParaRPr b="0" i="0" sz="1400" u="none" cap="none" strike="noStrike"/>
          </a:p>
        </p:txBody>
      </p:sp>
      <p:sp>
        <p:nvSpPr>
          <p:cNvPr id="245" name="Google Shape;245;p22"/>
          <p:cNvSpPr/>
          <p:nvPr/>
        </p:nvSpPr>
        <p:spPr>
          <a:xfrm>
            <a:off x="727829" y="5725597"/>
            <a:ext cx="13174742" cy="1095137"/>
          </a:xfrm>
          <a:prstGeom prst="roundRect">
            <a:avLst>
              <a:gd fmla="val 6979" name="adj"/>
            </a:avLst>
          </a:prstGeom>
          <a:solidFill>
            <a:srgbClr val="FFFFF4">
              <a:alpha val="94901"/>
            </a:srgbClr>
          </a:solidFill>
          <a:ln cap="flat" cmpd="sng" w="22850">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2"/>
          <p:cNvSpPr/>
          <p:nvPr/>
        </p:nvSpPr>
        <p:spPr>
          <a:xfrm>
            <a:off x="750689" y="5748457"/>
            <a:ext cx="727829" cy="1049417"/>
          </a:xfrm>
          <a:prstGeom prst="roundRect">
            <a:avLst>
              <a:gd fmla="val 6731" name="adj"/>
            </a:avLst>
          </a:prstGeom>
          <a:solidFill>
            <a:srgbClr val="FFF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2"/>
          <p:cNvSpPr/>
          <p:nvPr/>
        </p:nvSpPr>
        <p:spPr>
          <a:xfrm>
            <a:off x="970478" y="6095762"/>
            <a:ext cx="272891" cy="35480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7534F"/>
              </a:buClr>
              <a:buSzPts val="2100"/>
              <a:buFont typeface="Marcellus"/>
              <a:buNone/>
            </a:pPr>
            <a:r>
              <a:rPr b="0" i="0" lang="en-US" sz="2100" u="none" cap="none" strike="noStrike">
                <a:solidFill>
                  <a:srgbClr val="67534F"/>
                </a:solidFill>
                <a:latin typeface="Marcellus"/>
                <a:ea typeface="Marcellus"/>
                <a:cs typeface="Marcellus"/>
                <a:sym typeface="Marcellus"/>
              </a:rPr>
              <a:t>4</a:t>
            </a:r>
            <a:endParaRPr b="0" i="0" sz="2100" u="none" cap="none" strike="noStrike"/>
          </a:p>
        </p:txBody>
      </p:sp>
      <p:sp>
        <p:nvSpPr>
          <p:cNvPr id="248" name="Google Shape;248;p22"/>
          <p:cNvSpPr/>
          <p:nvPr/>
        </p:nvSpPr>
        <p:spPr>
          <a:xfrm>
            <a:off x="1660446" y="5930384"/>
            <a:ext cx="2615684" cy="340043"/>
          </a:xfrm>
          <a:prstGeom prst="rect">
            <a:avLst/>
          </a:prstGeom>
          <a:noFill/>
          <a:ln>
            <a:noFill/>
          </a:ln>
        </p:spPr>
        <p:txBody>
          <a:bodyPr anchorCtr="0" anchor="t" bIns="0" lIns="0" spcFirstLastPara="1" rIns="0" wrap="square" tIns="0">
            <a:noAutofit/>
          </a:bodyPr>
          <a:lstStyle/>
          <a:p>
            <a:pPr indent="0" lvl="0" marL="0" marR="0" rtl="0" algn="l">
              <a:lnSpc>
                <a:spcPct val="129268"/>
              </a:lnSpc>
              <a:spcBef>
                <a:spcPts val="0"/>
              </a:spcBef>
              <a:spcAft>
                <a:spcPts val="0"/>
              </a:spcAft>
              <a:buClr>
                <a:srgbClr val="67534F"/>
              </a:buClr>
              <a:buSzPts val="2050"/>
              <a:buFont typeface="Marcellus"/>
              <a:buNone/>
            </a:pPr>
            <a:r>
              <a:rPr b="0" i="0" lang="en-US" sz="2050" u="none" cap="none" strike="noStrike">
                <a:solidFill>
                  <a:srgbClr val="67534F"/>
                </a:solidFill>
                <a:latin typeface="Marcellus"/>
                <a:ea typeface="Marcellus"/>
                <a:cs typeface="Marcellus"/>
                <a:sym typeface="Marcellus"/>
              </a:rPr>
              <a:t>Spot Connections</a:t>
            </a:r>
            <a:endParaRPr b="0" i="0" sz="2050" u="none" cap="none" strike="noStrike"/>
          </a:p>
        </p:txBody>
      </p:sp>
      <p:sp>
        <p:nvSpPr>
          <p:cNvPr id="249" name="Google Shape;249;p22"/>
          <p:cNvSpPr/>
          <p:nvPr/>
        </p:nvSpPr>
        <p:spPr>
          <a:xfrm>
            <a:off x="1660446" y="6379488"/>
            <a:ext cx="12037338" cy="236458"/>
          </a:xfrm>
          <a:prstGeom prst="rect">
            <a:avLst/>
          </a:prstGeom>
          <a:noFill/>
          <a:ln>
            <a:noFill/>
          </a:ln>
        </p:spPr>
        <p:txBody>
          <a:bodyPr anchorCtr="0" anchor="t" bIns="0" lIns="0" spcFirstLastPara="1" rIns="0" wrap="square" tIns="0">
            <a:noAutofit/>
          </a:bodyPr>
          <a:lstStyle/>
          <a:p>
            <a:pPr indent="0" lvl="0" marL="0" marR="0" rtl="0" algn="l">
              <a:lnSpc>
                <a:spcPct val="132142"/>
              </a:lnSpc>
              <a:spcBef>
                <a:spcPts val="0"/>
              </a:spcBef>
              <a:spcAft>
                <a:spcPts val="0"/>
              </a:spcAft>
              <a:buClr>
                <a:srgbClr val="67534F"/>
              </a:buClr>
              <a:buSzPts val="1400"/>
              <a:buFont typeface="Montserrat"/>
              <a:buNone/>
            </a:pPr>
            <a:r>
              <a:rPr b="0" i="0" lang="en-US" sz="1400" u="none" cap="none" strike="noStrike">
                <a:solidFill>
                  <a:srgbClr val="67534F"/>
                </a:solidFill>
                <a:latin typeface="Montserrat"/>
                <a:ea typeface="Montserrat"/>
                <a:cs typeface="Montserrat"/>
                <a:sym typeface="Montserrat"/>
              </a:rPr>
              <a:t>See how variables relate to each other.</a:t>
            </a:r>
            <a:endParaRPr b="0" i="0" sz="1400" u="none" cap="none" strike="noStrike"/>
          </a:p>
        </p:txBody>
      </p:sp>
      <p:sp>
        <p:nvSpPr>
          <p:cNvPr id="250" name="Google Shape;250;p22"/>
          <p:cNvSpPr/>
          <p:nvPr/>
        </p:nvSpPr>
        <p:spPr>
          <a:xfrm>
            <a:off x="727829" y="7025402"/>
            <a:ext cx="13174742" cy="718542"/>
          </a:xfrm>
          <a:prstGeom prst="roundRect">
            <a:avLst>
              <a:gd fmla="val 10636" name="adj"/>
            </a:avLst>
          </a:prstGeom>
          <a:solidFill>
            <a:srgbClr val="FFD1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1" name="Google Shape;251;p22"/>
          <p:cNvPicPr preferRelativeResize="0"/>
          <p:nvPr/>
        </p:nvPicPr>
        <p:blipFill rotWithShape="1">
          <a:blip r:embed="rId3">
            <a:alphaModFix/>
          </a:blip>
          <a:srcRect b="0" l="0" r="0" t="0"/>
          <a:stretch/>
        </p:blipFill>
        <p:spPr>
          <a:xfrm>
            <a:off x="909757" y="7276505"/>
            <a:ext cx="227409" cy="181928"/>
          </a:xfrm>
          <a:prstGeom prst="rect">
            <a:avLst/>
          </a:prstGeom>
          <a:noFill/>
          <a:ln>
            <a:noFill/>
          </a:ln>
        </p:spPr>
      </p:pic>
      <p:sp>
        <p:nvSpPr>
          <p:cNvPr id="252" name="Google Shape;252;p22"/>
          <p:cNvSpPr/>
          <p:nvPr/>
        </p:nvSpPr>
        <p:spPr>
          <a:xfrm>
            <a:off x="1319093" y="7252811"/>
            <a:ext cx="12401550" cy="236458"/>
          </a:xfrm>
          <a:prstGeom prst="rect">
            <a:avLst/>
          </a:prstGeom>
          <a:noFill/>
          <a:ln>
            <a:noFill/>
          </a:ln>
        </p:spPr>
        <p:txBody>
          <a:bodyPr anchorCtr="0" anchor="t" bIns="0" lIns="0" spcFirstLastPara="1" rIns="0" wrap="square" tIns="0">
            <a:noAutofit/>
          </a:bodyPr>
          <a:lstStyle/>
          <a:p>
            <a:pPr indent="0" lvl="0" marL="0" marR="0" rtl="0" algn="l">
              <a:lnSpc>
                <a:spcPct val="132142"/>
              </a:lnSpc>
              <a:spcBef>
                <a:spcPts val="0"/>
              </a:spcBef>
              <a:spcAft>
                <a:spcPts val="0"/>
              </a:spcAft>
              <a:buClr>
                <a:srgbClr val="000000"/>
              </a:buClr>
              <a:buSzPts val="1400"/>
              <a:buFont typeface="Montserrat"/>
              <a:buNone/>
            </a:pPr>
            <a:r>
              <a:rPr b="1" i="0" lang="en-US" sz="1400" u="none" cap="none" strike="noStrike">
                <a:solidFill>
                  <a:srgbClr val="000000"/>
                </a:solidFill>
                <a:latin typeface="Montserrat"/>
                <a:ea typeface="Montserrat"/>
                <a:cs typeface="Montserrat"/>
                <a:sym typeface="Montserrat"/>
              </a:rPr>
              <a:t>Ready to code?</a:t>
            </a:r>
            <a:r>
              <a:rPr b="0" i="0" lang="en-US" sz="1400" u="none" cap="none" strike="noStrike">
                <a:solidFill>
                  <a:srgbClr val="000000"/>
                </a:solidFill>
                <a:latin typeface="Montserrat"/>
                <a:ea typeface="Montserrat"/>
                <a:cs typeface="Montserrat"/>
                <a:sym typeface="Montserrat"/>
              </a:rPr>
              <a:t> Open your notebook and follow along to build a powerful predictive model!</a:t>
            </a:r>
            <a:endParaRPr b="0" i="0" sz="140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