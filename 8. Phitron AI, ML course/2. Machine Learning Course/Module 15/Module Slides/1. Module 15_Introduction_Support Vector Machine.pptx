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6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4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</p:sldIdLst>
  <p:sldSz cy="8229600" cx="14630400"/>
  <p:notesSz cx="8229600" cy="14630400"/>
  <p:embeddedFontLst>
    <p:embeddedFont>
      <p:font typeface="Marcellus"/>
      <p:regular r:id="rId10"/>
    </p:embeddedFont>
    <p:embeddedFont>
      <p:font typeface="Montserrat"/>
      <p:regular r:id="rId11"/>
      <p:bold r:id="rId12"/>
      <p:italic r:id="rId13"/>
      <p:boldItalic r:id="rId1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font" Target="fonts/Montserrat-regular.fntdata"/><Relationship Id="rId10" Type="http://schemas.openxmlformats.org/officeDocument/2006/relationships/font" Target="fonts/Marcellus-regular.fntdata"/><Relationship Id="rId13" Type="http://schemas.openxmlformats.org/officeDocument/2006/relationships/font" Target="fonts/Montserrat-italic.fntdata"/><Relationship Id="rId12" Type="http://schemas.openxmlformats.org/officeDocument/2006/relationships/font" Target="fonts/Montserrat-bold.fntdata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4" Type="http://schemas.openxmlformats.org/officeDocument/2006/relationships/font" Target="fonts/Montserrat-boldItalic.fnt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/>
              <a:t>‹#›</a:t>
            </a:fld>
            <a:endParaRPr b="0" i="0" sz="1200" u="none" cap="none" strike="noStrike"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" name="Google Shape;28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" name="Google Shape;29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5" name="Google Shape;35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" name="Google Shape;36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1" name="Google Shape;51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" name="Google Shape;52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7" name="Google Shape;77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" name="Google Shape;78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3" name="Google Shape;103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" name="Google Shape;104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1 master">
  <p:cSld name="Slide 1 master"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;p2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C8A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" name="Google Shape;12;p2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4">
              <a:alpha val="9490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2 master">
  <p:cSld name="Slide 2 mast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C8A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" name="Google Shape;15;p3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4">
              <a:alpha val="9490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3 master">
  <p:cSld name="Slide 3 master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C8A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" name="Google Shape;18;p4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4">
              <a:alpha val="9490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4 master">
  <p:cSld name="Slide 4 master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5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C8A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" name="Google Shape;21;p5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4">
              <a:alpha val="9490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5 master">
  <p:cSld name="Slide 5 master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6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C8A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" name="Google Shape;24;p6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4">
              <a:alpha val="9490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6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5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Relationship Id="rId4" Type="http://schemas.openxmlformats.org/officeDocument/2006/relationships/image" Target="../media/image4.png"/><Relationship Id="rId5" Type="http://schemas.openxmlformats.org/officeDocument/2006/relationships/image" Target="../media/image3.png"/><Relationship Id="rId6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31" name="Google Shape;31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576072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32" name="Google Shape;32;p8"/>
          <p:cNvSpPr/>
          <p:nvPr/>
        </p:nvSpPr>
        <p:spPr>
          <a:xfrm>
            <a:off x="6280190" y="3267075"/>
            <a:ext cx="7556421" cy="1695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392"/>
              </a:lnSpc>
              <a:spcBef>
                <a:spcPts val="0"/>
              </a:spcBef>
              <a:spcAft>
                <a:spcPts val="0"/>
              </a:spcAft>
              <a:buClr>
                <a:srgbClr val="532418"/>
              </a:buClr>
              <a:buSzPts val="5100"/>
              <a:buFont typeface="Marcellus"/>
              <a:buNone/>
            </a:pPr>
            <a:r>
              <a:rPr b="0" i="0" lang="en-US" sz="5100" u="none" cap="none" strike="noStrike">
                <a:solidFill>
                  <a:srgbClr val="532418"/>
                </a:solidFill>
                <a:latin typeface="Marcellus"/>
                <a:ea typeface="Marcellus"/>
                <a:cs typeface="Marcellus"/>
                <a:sym typeface="Marcellus"/>
              </a:rPr>
              <a:t>Module 15 — Support Vector Machine</a:t>
            </a:r>
            <a:endParaRPr b="0" i="0" sz="5100" u="none" cap="none" strike="noStrike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38" name="Google Shape;38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576072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39" name="Google Shape;39;p9"/>
          <p:cNvSpPr/>
          <p:nvPr/>
        </p:nvSpPr>
        <p:spPr>
          <a:xfrm>
            <a:off x="6280190" y="1508998"/>
            <a:ext cx="6521291" cy="8477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392"/>
              </a:lnSpc>
              <a:spcBef>
                <a:spcPts val="0"/>
              </a:spcBef>
              <a:spcAft>
                <a:spcPts val="0"/>
              </a:spcAft>
              <a:buClr>
                <a:srgbClr val="532418"/>
              </a:buClr>
              <a:buSzPts val="5100"/>
              <a:buFont typeface="Marcellus"/>
              <a:buNone/>
            </a:pPr>
            <a:r>
              <a:rPr b="0" i="0" lang="en-US" sz="5100" u="none" cap="none" strike="noStrike">
                <a:solidFill>
                  <a:srgbClr val="532418"/>
                </a:solidFill>
                <a:latin typeface="Marcellus"/>
                <a:ea typeface="Marcellus"/>
                <a:cs typeface="Marcellus"/>
                <a:sym typeface="Marcellus"/>
              </a:rPr>
              <a:t>What You Will Learn</a:t>
            </a:r>
            <a:endParaRPr b="0" i="0" sz="5100" u="none" cap="none" strike="noStrike"/>
          </a:p>
        </p:txBody>
      </p:sp>
      <p:sp>
        <p:nvSpPr>
          <p:cNvPr id="40" name="Google Shape;40;p9"/>
          <p:cNvSpPr/>
          <p:nvPr/>
        </p:nvSpPr>
        <p:spPr>
          <a:xfrm>
            <a:off x="6280190" y="2923699"/>
            <a:ext cx="3260646" cy="42386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9411"/>
              </a:lnSpc>
              <a:spcBef>
                <a:spcPts val="0"/>
              </a:spcBef>
              <a:spcAft>
                <a:spcPts val="0"/>
              </a:spcAft>
              <a:buClr>
                <a:srgbClr val="532418"/>
              </a:buClr>
              <a:buSzPts val="2550"/>
              <a:buFont typeface="Marcellus"/>
              <a:buNone/>
            </a:pPr>
            <a:r>
              <a:rPr b="0" i="0" lang="en-US" sz="2550" u="none" cap="none" strike="noStrike">
                <a:solidFill>
                  <a:srgbClr val="532418"/>
                </a:solidFill>
                <a:latin typeface="Marcellus"/>
                <a:ea typeface="Marcellus"/>
                <a:cs typeface="Marcellus"/>
                <a:sym typeface="Marcellus"/>
              </a:rPr>
              <a:t>Core Concepts</a:t>
            </a:r>
            <a:endParaRPr b="0" i="0" sz="2550" u="none" cap="none" strike="noStrike"/>
          </a:p>
        </p:txBody>
      </p:sp>
      <p:sp>
        <p:nvSpPr>
          <p:cNvPr id="41" name="Google Shape;41;p9"/>
          <p:cNvSpPr/>
          <p:nvPr/>
        </p:nvSpPr>
        <p:spPr>
          <a:xfrm>
            <a:off x="6280190" y="3574375"/>
            <a:ext cx="3501509" cy="58959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31428"/>
              </a:lnSpc>
              <a:spcBef>
                <a:spcPts val="0"/>
              </a:spcBef>
              <a:spcAft>
                <a:spcPts val="0"/>
              </a:spcAft>
              <a:buClr>
                <a:srgbClr val="67534F"/>
              </a:buClr>
              <a:buSzPts val="1750"/>
              <a:buFont typeface="Montserrat"/>
              <a:buChar char="•"/>
            </a:pPr>
            <a:r>
              <a:rPr b="0" i="0" lang="en-US" sz="1750" u="none" cap="none" strike="noStrike">
                <a:solidFill>
                  <a:srgbClr val="67534F"/>
                </a:solidFill>
                <a:latin typeface="Montserrat"/>
                <a:ea typeface="Montserrat"/>
                <a:cs typeface="Montserrat"/>
                <a:sym typeface="Montserrat"/>
              </a:rPr>
              <a:t>SVM intuition and geometric foundations</a:t>
            </a:r>
            <a:endParaRPr b="0" i="0" sz="1750" u="none" cap="none" strike="noStrike"/>
          </a:p>
        </p:txBody>
      </p:sp>
      <p:sp>
        <p:nvSpPr>
          <p:cNvPr id="42" name="Google Shape;42;p9"/>
          <p:cNvSpPr/>
          <p:nvPr/>
        </p:nvSpPr>
        <p:spPr>
          <a:xfrm>
            <a:off x="6280190" y="4243268"/>
            <a:ext cx="3501509" cy="58959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31428"/>
              </a:lnSpc>
              <a:spcBef>
                <a:spcPts val="0"/>
              </a:spcBef>
              <a:spcAft>
                <a:spcPts val="0"/>
              </a:spcAft>
              <a:buClr>
                <a:srgbClr val="67534F"/>
              </a:buClr>
              <a:buSzPts val="1750"/>
              <a:buFont typeface="Montserrat"/>
              <a:buChar char="•"/>
            </a:pPr>
            <a:r>
              <a:rPr b="0" i="0" lang="en-US" sz="1750" u="none" cap="none" strike="noStrike">
                <a:solidFill>
                  <a:srgbClr val="67534F"/>
                </a:solidFill>
                <a:latin typeface="Montserrat"/>
                <a:ea typeface="Montserrat"/>
                <a:cs typeface="Montserrat"/>
                <a:sym typeface="Montserrat"/>
              </a:rPr>
              <a:t>Margins and support vectors</a:t>
            </a:r>
            <a:endParaRPr b="0" i="0" sz="1750" u="none" cap="none" strike="noStrike"/>
          </a:p>
        </p:txBody>
      </p:sp>
      <p:sp>
        <p:nvSpPr>
          <p:cNvPr id="43" name="Google Shape;43;p9"/>
          <p:cNvSpPr/>
          <p:nvPr/>
        </p:nvSpPr>
        <p:spPr>
          <a:xfrm>
            <a:off x="6280190" y="4912162"/>
            <a:ext cx="3501509" cy="58959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31428"/>
              </a:lnSpc>
              <a:spcBef>
                <a:spcPts val="0"/>
              </a:spcBef>
              <a:spcAft>
                <a:spcPts val="0"/>
              </a:spcAft>
              <a:buClr>
                <a:srgbClr val="67534F"/>
              </a:buClr>
              <a:buSzPts val="1750"/>
              <a:buFont typeface="Montserrat"/>
              <a:buChar char="•"/>
            </a:pPr>
            <a:r>
              <a:rPr b="0" i="0" lang="en-US" sz="1750" u="none" cap="none" strike="noStrike">
                <a:solidFill>
                  <a:srgbClr val="67534F"/>
                </a:solidFill>
                <a:latin typeface="Montserrat"/>
                <a:ea typeface="Montserrat"/>
                <a:cs typeface="Montserrat"/>
                <a:sym typeface="Montserrat"/>
              </a:rPr>
              <a:t>Linear vs nonlinear separation strategies</a:t>
            </a:r>
            <a:endParaRPr b="0" i="0" sz="1750" u="none" cap="none" strike="noStrike"/>
          </a:p>
        </p:txBody>
      </p:sp>
      <p:sp>
        <p:nvSpPr>
          <p:cNvPr id="44" name="Google Shape;44;p9"/>
          <p:cNvSpPr/>
          <p:nvPr/>
        </p:nvSpPr>
        <p:spPr>
          <a:xfrm>
            <a:off x="10342721" y="2923699"/>
            <a:ext cx="3260646" cy="42386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9411"/>
              </a:lnSpc>
              <a:spcBef>
                <a:spcPts val="0"/>
              </a:spcBef>
              <a:spcAft>
                <a:spcPts val="0"/>
              </a:spcAft>
              <a:buClr>
                <a:srgbClr val="532418"/>
              </a:buClr>
              <a:buSzPts val="2550"/>
              <a:buFont typeface="Marcellus"/>
              <a:buNone/>
            </a:pPr>
            <a:r>
              <a:rPr b="0" i="0" lang="en-US" sz="2550" u="none" cap="none" strike="noStrike">
                <a:solidFill>
                  <a:srgbClr val="532418"/>
                </a:solidFill>
                <a:latin typeface="Marcellus"/>
                <a:ea typeface="Marcellus"/>
                <a:cs typeface="Marcellus"/>
                <a:sym typeface="Marcellus"/>
              </a:rPr>
              <a:t>Technical Tools</a:t>
            </a:r>
            <a:endParaRPr b="0" i="0" sz="2550" u="none" cap="none" strike="noStrike"/>
          </a:p>
        </p:txBody>
      </p:sp>
      <p:sp>
        <p:nvSpPr>
          <p:cNvPr id="45" name="Google Shape;45;p9"/>
          <p:cNvSpPr/>
          <p:nvPr/>
        </p:nvSpPr>
        <p:spPr>
          <a:xfrm>
            <a:off x="10342721" y="3574375"/>
            <a:ext cx="3501509" cy="58959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31428"/>
              </a:lnSpc>
              <a:spcBef>
                <a:spcPts val="0"/>
              </a:spcBef>
              <a:spcAft>
                <a:spcPts val="0"/>
              </a:spcAft>
              <a:buClr>
                <a:srgbClr val="67534F"/>
              </a:buClr>
              <a:buSzPts val="1750"/>
              <a:buFont typeface="Montserrat"/>
              <a:buChar char="•"/>
            </a:pPr>
            <a:r>
              <a:rPr b="0" i="0" lang="en-US" sz="1750" u="none" cap="none" strike="noStrike">
                <a:solidFill>
                  <a:srgbClr val="67534F"/>
                </a:solidFill>
                <a:latin typeface="Montserrat"/>
                <a:ea typeface="Montserrat"/>
                <a:cs typeface="Montserrat"/>
                <a:sym typeface="Montserrat"/>
              </a:rPr>
              <a:t>Kernel functions: Linear, Polynomial, RBF</a:t>
            </a:r>
            <a:endParaRPr b="0" i="0" sz="1750" u="none" cap="none" strike="noStrike"/>
          </a:p>
        </p:txBody>
      </p:sp>
      <p:sp>
        <p:nvSpPr>
          <p:cNvPr id="46" name="Google Shape;46;p9"/>
          <p:cNvSpPr/>
          <p:nvPr/>
        </p:nvSpPr>
        <p:spPr>
          <a:xfrm>
            <a:off x="10342721" y="4243268"/>
            <a:ext cx="3501509" cy="58959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31428"/>
              </a:lnSpc>
              <a:spcBef>
                <a:spcPts val="0"/>
              </a:spcBef>
              <a:spcAft>
                <a:spcPts val="0"/>
              </a:spcAft>
              <a:buClr>
                <a:srgbClr val="67534F"/>
              </a:buClr>
              <a:buSzPts val="1750"/>
              <a:buFont typeface="Montserrat"/>
              <a:buChar char="•"/>
            </a:pPr>
            <a:r>
              <a:rPr b="0" i="0" lang="en-US" sz="1750" u="none" cap="none" strike="noStrike">
                <a:solidFill>
                  <a:srgbClr val="67534F"/>
                </a:solidFill>
                <a:latin typeface="Montserrat"/>
                <a:ea typeface="Montserrat"/>
                <a:cs typeface="Montserrat"/>
                <a:sym typeface="Montserrat"/>
              </a:rPr>
              <a:t>Support Vector Classifiers (SVC)</a:t>
            </a:r>
            <a:endParaRPr b="0" i="0" sz="1750" u="none" cap="none" strike="noStrike"/>
          </a:p>
        </p:txBody>
      </p:sp>
      <p:sp>
        <p:nvSpPr>
          <p:cNvPr id="47" name="Google Shape;47;p9"/>
          <p:cNvSpPr/>
          <p:nvPr/>
        </p:nvSpPr>
        <p:spPr>
          <a:xfrm>
            <a:off x="10342721" y="4912162"/>
            <a:ext cx="3501509" cy="58959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31428"/>
              </a:lnSpc>
              <a:spcBef>
                <a:spcPts val="0"/>
              </a:spcBef>
              <a:spcAft>
                <a:spcPts val="0"/>
              </a:spcAft>
              <a:buClr>
                <a:srgbClr val="67534F"/>
              </a:buClr>
              <a:buSzPts val="1750"/>
              <a:buFont typeface="Montserrat"/>
              <a:buChar char="•"/>
            </a:pPr>
            <a:r>
              <a:rPr b="0" i="0" lang="en-US" sz="1750" u="none" cap="none" strike="noStrike">
                <a:solidFill>
                  <a:srgbClr val="67534F"/>
                </a:solidFill>
                <a:latin typeface="Montserrat"/>
                <a:ea typeface="Montserrat"/>
                <a:cs typeface="Montserrat"/>
                <a:sym typeface="Montserrat"/>
              </a:rPr>
              <a:t>Support Vector Regression (SVR)</a:t>
            </a:r>
            <a:endParaRPr b="0" i="0" sz="1750" u="none" cap="none" strike="noStrike"/>
          </a:p>
        </p:txBody>
      </p:sp>
      <p:sp>
        <p:nvSpPr>
          <p:cNvPr id="48" name="Google Shape;48;p9"/>
          <p:cNvSpPr/>
          <p:nvPr/>
        </p:nvSpPr>
        <p:spPr>
          <a:xfrm>
            <a:off x="6280190" y="5836206"/>
            <a:ext cx="7556421" cy="8843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1428"/>
              </a:lnSpc>
              <a:spcBef>
                <a:spcPts val="0"/>
              </a:spcBef>
              <a:spcAft>
                <a:spcPts val="0"/>
              </a:spcAft>
              <a:buClr>
                <a:srgbClr val="67534F"/>
              </a:buClr>
              <a:buSzPts val="1750"/>
              <a:buFont typeface="Montserrat"/>
              <a:buNone/>
            </a:pPr>
            <a:r>
              <a:rPr b="0" i="0" lang="en-US" sz="1750" u="none" cap="none" strike="noStrike">
                <a:solidFill>
                  <a:srgbClr val="67534F"/>
                </a:solidFill>
                <a:latin typeface="Montserrat"/>
                <a:ea typeface="Montserrat"/>
                <a:cs typeface="Montserrat"/>
                <a:sym typeface="Montserrat"/>
              </a:rPr>
              <a:t>This module provides both theoretical understanding and practical implementation skills for one of machine learning's most powerful algorithms.</a:t>
            </a:r>
            <a:endParaRPr b="0" i="0" sz="1750" u="none" cap="none" strike="noStrike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0"/>
          <p:cNvSpPr/>
          <p:nvPr/>
        </p:nvSpPr>
        <p:spPr>
          <a:xfrm>
            <a:off x="793790" y="794504"/>
            <a:ext cx="6521291" cy="8477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392"/>
              </a:lnSpc>
              <a:spcBef>
                <a:spcPts val="0"/>
              </a:spcBef>
              <a:spcAft>
                <a:spcPts val="0"/>
              </a:spcAft>
              <a:buClr>
                <a:srgbClr val="532418"/>
              </a:buClr>
              <a:buSzPts val="5100"/>
              <a:buFont typeface="Marcellus"/>
              <a:buNone/>
            </a:pPr>
            <a:r>
              <a:rPr b="0" i="0" lang="en-US" sz="5100" u="none" cap="none" strike="noStrike">
                <a:solidFill>
                  <a:srgbClr val="532418"/>
                </a:solidFill>
                <a:latin typeface="Marcellus"/>
                <a:ea typeface="Marcellus"/>
                <a:cs typeface="Marcellus"/>
                <a:sym typeface="Marcellus"/>
              </a:rPr>
              <a:t>Why SVM Matters</a:t>
            </a:r>
            <a:endParaRPr b="0" i="0" sz="5100" u="none" cap="none" strike="noStrike"/>
          </a:p>
        </p:txBody>
      </p:sp>
      <p:sp>
        <p:nvSpPr>
          <p:cNvPr id="55" name="Google Shape;55;p10"/>
          <p:cNvSpPr/>
          <p:nvPr/>
        </p:nvSpPr>
        <p:spPr>
          <a:xfrm>
            <a:off x="793790" y="2095857"/>
            <a:ext cx="6407944" cy="2556153"/>
          </a:xfrm>
          <a:prstGeom prst="roundRect">
            <a:avLst>
              <a:gd fmla="val 3727" name="adj"/>
            </a:avLst>
          </a:prstGeom>
          <a:solidFill>
            <a:srgbClr val="FFFFF4"/>
          </a:solidFill>
          <a:ln cap="flat" cmpd="sng" w="22850">
            <a:solidFill>
              <a:srgbClr val="FFE0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" name="Google Shape;56;p10"/>
          <p:cNvSpPr/>
          <p:nvPr/>
        </p:nvSpPr>
        <p:spPr>
          <a:xfrm>
            <a:off x="1043464" y="2345531"/>
            <a:ext cx="680442" cy="680442"/>
          </a:xfrm>
          <a:prstGeom prst="roundRect">
            <a:avLst>
              <a:gd fmla="val 13436980" name="adj"/>
            </a:avLst>
          </a:prstGeom>
          <a:solidFill>
            <a:srgbClr val="FF954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57" name="Google Shape;57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30630" y="2532698"/>
            <a:ext cx="306110" cy="306110"/>
          </a:xfrm>
          <a:prstGeom prst="rect">
            <a:avLst/>
          </a:prstGeom>
          <a:noFill/>
          <a:ln>
            <a:noFill/>
          </a:ln>
        </p:spPr>
      </p:pic>
      <p:sp>
        <p:nvSpPr>
          <p:cNvPr id="58" name="Google Shape;58;p10"/>
          <p:cNvSpPr/>
          <p:nvPr/>
        </p:nvSpPr>
        <p:spPr>
          <a:xfrm>
            <a:off x="1043464" y="3252787"/>
            <a:ext cx="3260646" cy="42386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9411"/>
              </a:lnSpc>
              <a:spcBef>
                <a:spcPts val="0"/>
              </a:spcBef>
              <a:spcAft>
                <a:spcPts val="0"/>
              </a:spcAft>
              <a:buClr>
                <a:srgbClr val="67534F"/>
              </a:buClr>
              <a:buSzPts val="2550"/>
              <a:buFont typeface="Marcellus"/>
              <a:buNone/>
            </a:pPr>
            <a:r>
              <a:rPr b="0" i="0" lang="en-US" sz="2550" u="none" cap="none" strike="noStrike">
                <a:solidFill>
                  <a:srgbClr val="67534F"/>
                </a:solidFill>
                <a:latin typeface="Marcellus"/>
                <a:ea typeface="Marcellus"/>
                <a:cs typeface="Marcellus"/>
                <a:sym typeface="Marcellus"/>
              </a:rPr>
              <a:t>Data Efficiency</a:t>
            </a:r>
            <a:endParaRPr b="0" i="0" sz="2550" u="none" cap="none" strike="noStrike"/>
          </a:p>
        </p:txBody>
      </p:sp>
      <p:sp>
        <p:nvSpPr>
          <p:cNvPr id="59" name="Google Shape;59;p10"/>
          <p:cNvSpPr/>
          <p:nvPr/>
        </p:nvSpPr>
        <p:spPr>
          <a:xfrm>
            <a:off x="1043464" y="3812738"/>
            <a:ext cx="5908596" cy="58959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1428"/>
              </a:lnSpc>
              <a:spcBef>
                <a:spcPts val="0"/>
              </a:spcBef>
              <a:spcAft>
                <a:spcPts val="0"/>
              </a:spcAft>
              <a:buClr>
                <a:srgbClr val="67534F"/>
              </a:buClr>
              <a:buSzPts val="1750"/>
              <a:buFont typeface="Montserrat"/>
              <a:buNone/>
            </a:pPr>
            <a:r>
              <a:rPr b="0" i="0" lang="en-US" sz="1750" u="none" cap="none" strike="noStrike">
                <a:solidFill>
                  <a:srgbClr val="67534F"/>
                </a:solidFill>
                <a:latin typeface="Montserrat"/>
                <a:ea typeface="Montserrat"/>
                <a:cs typeface="Montserrat"/>
                <a:sym typeface="Montserrat"/>
              </a:rPr>
              <a:t>Works exceptionally well on small and medium-sized datasets where other algorithms struggle</a:t>
            </a:r>
            <a:endParaRPr b="0" i="0" sz="1750" u="none" cap="none" strike="noStrike"/>
          </a:p>
        </p:txBody>
      </p:sp>
      <p:sp>
        <p:nvSpPr>
          <p:cNvPr id="60" name="Google Shape;60;p10"/>
          <p:cNvSpPr/>
          <p:nvPr/>
        </p:nvSpPr>
        <p:spPr>
          <a:xfrm>
            <a:off x="7428548" y="2095857"/>
            <a:ext cx="6408063" cy="2556153"/>
          </a:xfrm>
          <a:prstGeom prst="roundRect">
            <a:avLst>
              <a:gd fmla="val 3727" name="adj"/>
            </a:avLst>
          </a:prstGeom>
          <a:solidFill>
            <a:srgbClr val="FFFFF4"/>
          </a:solidFill>
          <a:ln cap="flat" cmpd="sng" w="22850">
            <a:solidFill>
              <a:srgbClr val="FFE0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" name="Google Shape;61;p10"/>
          <p:cNvSpPr/>
          <p:nvPr/>
        </p:nvSpPr>
        <p:spPr>
          <a:xfrm>
            <a:off x="7678222" y="2345531"/>
            <a:ext cx="680442" cy="680442"/>
          </a:xfrm>
          <a:prstGeom prst="roundRect">
            <a:avLst>
              <a:gd fmla="val 13436980" name="adj"/>
            </a:avLst>
          </a:prstGeom>
          <a:solidFill>
            <a:srgbClr val="FF954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62" name="Google Shape;62;p1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865388" y="2532698"/>
            <a:ext cx="306110" cy="306110"/>
          </a:xfrm>
          <a:prstGeom prst="rect">
            <a:avLst/>
          </a:prstGeom>
          <a:noFill/>
          <a:ln>
            <a:noFill/>
          </a:ln>
        </p:spPr>
      </p:pic>
      <p:sp>
        <p:nvSpPr>
          <p:cNvPr id="63" name="Google Shape;63;p10"/>
          <p:cNvSpPr/>
          <p:nvPr/>
        </p:nvSpPr>
        <p:spPr>
          <a:xfrm>
            <a:off x="7678222" y="3252787"/>
            <a:ext cx="3260646" cy="42386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9411"/>
              </a:lnSpc>
              <a:spcBef>
                <a:spcPts val="0"/>
              </a:spcBef>
              <a:spcAft>
                <a:spcPts val="0"/>
              </a:spcAft>
              <a:buClr>
                <a:srgbClr val="67534F"/>
              </a:buClr>
              <a:buSzPts val="2550"/>
              <a:buFont typeface="Marcellus"/>
              <a:buNone/>
            </a:pPr>
            <a:r>
              <a:rPr b="0" i="0" lang="en-US" sz="2550" u="none" cap="none" strike="noStrike">
                <a:solidFill>
                  <a:srgbClr val="67534F"/>
                </a:solidFill>
                <a:latin typeface="Marcellus"/>
                <a:ea typeface="Marcellus"/>
                <a:cs typeface="Marcellus"/>
                <a:sym typeface="Marcellus"/>
              </a:rPr>
              <a:t>Strong Boundaries</a:t>
            </a:r>
            <a:endParaRPr b="0" i="0" sz="2550" u="none" cap="none" strike="noStrike"/>
          </a:p>
        </p:txBody>
      </p:sp>
      <p:sp>
        <p:nvSpPr>
          <p:cNvPr id="64" name="Google Shape;64;p10"/>
          <p:cNvSpPr/>
          <p:nvPr/>
        </p:nvSpPr>
        <p:spPr>
          <a:xfrm>
            <a:off x="7678222" y="3812738"/>
            <a:ext cx="5908715" cy="58959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1428"/>
              </a:lnSpc>
              <a:spcBef>
                <a:spcPts val="0"/>
              </a:spcBef>
              <a:spcAft>
                <a:spcPts val="0"/>
              </a:spcAft>
              <a:buClr>
                <a:srgbClr val="67534F"/>
              </a:buClr>
              <a:buSzPts val="1750"/>
              <a:buFont typeface="Montserrat"/>
              <a:buNone/>
            </a:pPr>
            <a:r>
              <a:rPr b="0" i="0" lang="en-US" sz="1750" u="none" cap="none" strike="noStrike">
                <a:solidFill>
                  <a:srgbClr val="67534F"/>
                </a:solidFill>
                <a:latin typeface="Montserrat"/>
                <a:ea typeface="Montserrat"/>
                <a:cs typeface="Montserrat"/>
                <a:sym typeface="Montserrat"/>
              </a:rPr>
              <a:t>Creates very robust decision boundaries that generalize well to unseen data</a:t>
            </a:r>
            <a:endParaRPr b="0" i="0" sz="1750" u="none" cap="none" strike="noStrike"/>
          </a:p>
        </p:txBody>
      </p:sp>
      <p:sp>
        <p:nvSpPr>
          <p:cNvPr id="65" name="Google Shape;65;p10"/>
          <p:cNvSpPr/>
          <p:nvPr/>
        </p:nvSpPr>
        <p:spPr>
          <a:xfrm>
            <a:off x="793790" y="4878824"/>
            <a:ext cx="6407944" cy="2556153"/>
          </a:xfrm>
          <a:prstGeom prst="roundRect">
            <a:avLst>
              <a:gd fmla="val 3727" name="adj"/>
            </a:avLst>
          </a:prstGeom>
          <a:solidFill>
            <a:srgbClr val="FFFFF4"/>
          </a:solidFill>
          <a:ln cap="flat" cmpd="sng" w="22850">
            <a:solidFill>
              <a:srgbClr val="FFE0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" name="Google Shape;66;p10"/>
          <p:cNvSpPr/>
          <p:nvPr/>
        </p:nvSpPr>
        <p:spPr>
          <a:xfrm>
            <a:off x="1043464" y="5128498"/>
            <a:ext cx="680442" cy="680442"/>
          </a:xfrm>
          <a:prstGeom prst="roundRect">
            <a:avLst>
              <a:gd fmla="val 13436980" name="adj"/>
            </a:avLst>
          </a:prstGeom>
          <a:solidFill>
            <a:srgbClr val="FF954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67" name="Google Shape;67;p1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230630" y="5315664"/>
            <a:ext cx="306110" cy="306110"/>
          </a:xfrm>
          <a:prstGeom prst="rect">
            <a:avLst/>
          </a:prstGeom>
          <a:noFill/>
          <a:ln>
            <a:noFill/>
          </a:ln>
        </p:spPr>
      </p:pic>
      <p:sp>
        <p:nvSpPr>
          <p:cNvPr id="68" name="Google Shape;68;p10"/>
          <p:cNvSpPr/>
          <p:nvPr/>
        </p:nvSpPr>
        <p:spPr>
          <a:xfrm>
            <a:off x="1043464" y="6035754"/>
            <a:ext cx="3260646" cy="42386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9411"/>
              </a:lnSpc>
              <a:spcBef>
                <a:spcPts val="0"/>
              </a:spcBef>
              <a:spcAft>
                <a:spcPts val="0"/>
              </a:spcAft>
              <a:buClr>
                <a:srgbClr val="67534F"/>
              </a:buClr>
              <a:buSzPts val="2550"/>
              <a:buFont typeface="Marcellus"/>
              <a:buNone/>
            </a:pPr>
            <a:r>
              <a:rPr b="0" i="0" lang="en-US" sz="2550" u="none" cap="none" strike="noStrike">
                <a:solidFill>
                  <a:srgbClr val="67534F"/>
                </a:solidFill>
                <a:latin typeface="Marcellus"/>
                <a:ea typeface="Marcellus"/>
                <a:cs typeface="Marcellus"/>
                <a:sym typeface="Marcellus"/>
              </a:rPr>
              <a:t>Nonlinear Power</a:t>
            </a:r>
            <a:endParaRPr b="0" i="0" sz="2550" u="none" cap="none" strike="noStrike"/>
          </a:p>
        </p:txBody>
      </p:sp>
      <p:sp>
        <p:nvSpPr>
          <p:cNvPr id="69" name="Google Shape;69;p10"/>
          <p:cNvSpPr/>
          <p:nvPr/>
        </p:nvSpPr>
        <p:spPr>
          <a:xfrm>
            <a:off x="1043464" y="6595705"/>
            <a:ext cx="5908596" cy="58959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1428"/>
              </a:lnSpc>
              <a:spcBef>
                <a:spcPts val="0"/>
              </a:spcBef>
              <a:spcAft>
                <a:spcPts val="0"/>
              </a:spcAft>
              <a:buClr>
                <a:srgbClr val="67534F"/>
              </a:buClr>
              <a:buSzPts val="1750"/>
              <a:buFont typeface="Montserrat"/>
              <a:buNone/>
            </a:pPr>
            <a:r>
              <a:rPr b="0" i="0" lang="en-US" sz="1750" u="none" cap="none" strike="noStrike">
                <a:solidFill>
                  <a:srgbClr val="67534F"/>
                </a:solidFill>
                <a:latin typeface="Montserrat"/>
                <a:ea typeface="Montserrat"/>
                <a:cs typeface="Montserrat"/>
                <a:sym typeface="Montserrat"/>
              </a:rPr>
              <a:t>Handles complex nonlinear relationships through kernel transformations</a:t>
            </a:r>
            <a:endParaRPr b="0" i="0" sz="1750" u="none" cap="none" strike="noStrike"/>
          </a:p>
        </p:txBody>
      </p:sp>
      <p:sp>
        <p:nvSpPr>
          <p:cNvPr id="70" name="Google Shape;70;p10"/>
          <p:cNvSpPr/>
          <p:nvPr/>
        </p:nvSpPr>
        <p:spPr>
          <a:xfrm>
            <a:off x="7428548" y="4878824"/>
            <a:ext cx="6408063" cy="2556153"/>
          </a:xfrm>
          <a:prstGeom prst="roundRect">
            <a:avLst>
              <a:gd fmla="val 3727" name="adj"/>
            </a:avLst>
          </a:prstGeom>
          <a:solidFill>
            <a:srgbClr val="FFFFF4"/>
          </a:solidFill>
          <a:ln cap="flat" cmpd="sng" w="22850">
            <a:solidFill>
              <a:srgbClr val="FFE0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" name="Google Shape;71;p10"/>
          <p:cNvSpPr/>
          <p:nvPr/>
        </p:nvSpPr>
        <p:spPr>
          <a:xfrm>
            <a:off x="7678222" y="5128498"/>
            <a:ext cx="680442" cy="680442"/>
          </a:xfrm>
          <a:prstGeom prst="roundRect">
            <a:avLst>
              <a:gd fmla="val 13436980" name="adj"/>
            </a:avLst>
          </a:prstGeom>
          <a:solidFill>
            <a:srgbClr val="FF954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72" name="Google Shape;72;p1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865388" y="5315664"/>
            <a:ext cx="306110" cy="306110"/>
          </a:xfrm>
          <a:prstGeom prst="rect">
            <a:avLst/>
          </a:prstGeom>
          <a:noFill/>
          <a:ln>
            <a:noFill/>
          </a:ln>
        </p:spPr>
      </p:pic>
      <p:sp>
        <p:nvSpPr>
          <p:cNvPr id="73" name="Google Shape;73;p10"/>
          <p:cNvSpPr/>
          <p:nvPr/>
        </p:nvSpPr>
        <p:spPr>
          <a:xfrm>
            <a:off x="7678222" y="6035754"/>
            <a:ext cx="3260646" cy="42386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9411"/>
              </a:lnSpc>
              <a:spcBef>
                <a:spcPts val="0"/>
              </a:spcBef>
              <a:spcAft>
                <a:spcPts val="0"/>
              </a:spcAft>
              <a:buClr>
                <a:srgbClr val="67534F"/>
              </a:buClr>
              <a:buSzPts val="2550"/>
              <a:buFont typeface="Marcellus"/>
              <a:buNone/>
            </a:pPr>
            <a:r>
              <a:rPr b="0" i="0" lang="en-US" sz="2550" u="none" cap="none" strike="noStrike">
                <a:solidFill>
                  <a:srgbClr val="67534F"/>
                </a:solidFill>
                <a:latin typeface="Marcellus"/>
                <a:ea typeface="Marcellus"/>
                <a:cs typeface="Marcellus"/>
                <a:sym typeface="Marcellus"/>
              </a:rPr>
              <a:t>Simple Yet Strong</a:t>
            </a:r>
            <a:endParaRPr b="0" i="0" sz="2550" u="none" cap="none" strike="noStrike"/>
          </a:p>
        </p:txBody>
      </p:sp>
      <p:sp>
        <p:nvSpPr>
          <p:cNvPr id="74" name="Google Shape;74;p10"/>
          <p:cNvSpPr/>
          <p:nvPr/>
        </p:nvSpPr>
        <p:spPr>
          <a:xfrm>
            <a:off x="7678222" y="6595705"/>
            <a:ext cx="5908715" cy="58959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1428"/>
              </a:lnSpc>
              <a:spcBef>
                <a:spcPts val="0"/>
              </a:spcBef>
              <a:spcAft>
                <a:spcPts val="0"/>
              </a:spcAft>
              <a:buClr>
                <a:srgbClr val="67534F"/>
              </a:buClr>
              <a:buSzPts val="1750"/>
              <a:buFont typeface="Montserrat"/>
              <a:buNone/>
            </a:pPr>
            <a:r>
              <a:rPr b="0" i="0" lang="en-US" sz="1750" u="none" cap="none" strike="noStrike">
                <a:solidFill>
                  <a:srgbClr val="67534F"/>
                </a:solidFill>
                <a:latin typeface="Montserrat"/>
                <a:ea typeface="Montserrat"/>
                <a:cs typeface="Montserrat"/>
                <a:sym typeface="Montserrat"/>
              </a:rPr>
              <a:t>Elegant mathematical concept that delivers consistently high performance</a:t>
            </a:r>
            <a:endParaRPr b="0" i="0" sz="1750" u="none" cap="none" strike="noStrike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1"/>
          <p:cNvSpPr/>
          <p:nvPr/>
        </p:nvSpPr>
        <p:spPr>
          <a:xfrm>
            <a:off x="793790" y="1343025"/>
            <a:ext cx="7096482" cy="8477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392"/>
              </a:lnSpc>
              <a:spcBef>
                <a:spcPts val="0"/>
              </a:spcBef>
              <a:spcAft>
                <a:spcPts val="0"/>
              </a:spcAft>
              <a:buClr>
                <a:srgbClr val="532418"/>
              </a:buClr>
              <a:buSzPts val="5100"/>
              <a:buFont typeface="Marcellus"/>
              <a:buNone/>
            </a:pPr>
            <a:r>
              <a:rPr b="0" i="0" lang="en-US" sz="5100" u="none" cap="none" strike="noStrike">
                <a:solidFill>
                  <a:srgbClr val="532418"/>
                </a:solidFill>
                <a:latin typeface="Marcellus"/>
                <a:ea typeface="Marcellus"/>
                <a:cs typeface="Marcellus"/>
                <a:sym typeface="Marcellus"/>
              </a:rPr>
              <a:t>Real-World Applications</a:t>
            </a:r>
            <a:endParaRPr b="0" i="0" sz="5100" u="none" cap="none" strike="noStrike"/>
          </a:p>
        </p:txBody>
      </p:sp>
      <p:sp>
        <p:nvSpPr>
          <p:cNvPr id="81" name="Google Shape;81;p11"/>
          <p:cNvSpPr/>
          <p:nvPr/>
        </p:nvSpPr>
        <p:spPr>
          <a:xfrm>
            <a:off x="793806" y="2644375"/>
            <a:ext cx="372000" cy="294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1428"/>
              </a:lnSpc>
              <a:spcBef>
                <a:spcPts val="0"/>
              </a:spcBef>
              <a:spcAft>
                <a:spcPts val="0"/>
              </a:spcAft>
              <a:buClr>
                <a:srgbClr val="67534F"/>
              </a:buClr>
              <a:buSzPts val="1750"/>
              <a:buFont typeface="Marcellus"/>
              <a:buNone/>
            </a:pPr>
            <a:r>
              <a:rPr b="0" i="0" lang="en-US" sz="1750" u="none" cap="none" strike="noStrike">
                <a:solidFill>
                  <a:srgbClr val="67534F"/>
                </a:solidFill>
                <a:latin typeface="Marcellus"/>
                <a:ea typeface="Marcellus"/>
                <a:cs typeface="Marcellus"/>
                <a:sym typeface="Marcellus"/>
              </a:rPr>
              <a:t>01</a:t>
            </a:r>
            <a:endParaRPr b="0" i="0" sz="1750" u="none" cap="none" strike="noStrike"/>
          </a:p>
        </p:txBody>
      </p:sp>
      <p:sp>
        <p:nvSpPr>
          <p:cNvPr id="82" name="Google Shape;82;p11"/>
          <p:cNvSpPr/>
          <p:nvPr/>
        </p:nvSpPr>
        <p:spPr>
          <a:xfrm>
            <a:off x="793790" y="3010733"/>
            <a:ext cx="4196358" cy="30480"/>
          </a:xfrm>
          <a:prstGeom prst="rect">
            <a:avLst/>
          </a:prstGeom>
          <a:solidFill>
            <a:srgbClr val="FF954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" name="Google Shape;83;p11"/>
          <p:cNvSpPr/>
          <p:nvPr/>
        </p:nvSpPr>
        <p:spPr>
          <a:xfrm>
            <a:off x="793790" y="3185041"/>
            <a:ext cx="3260646" cy="42386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9411"/>
              </a:lnSpc>
              <a:spcBef>
                <a:spcPts val="0"/>
              </a:spcBef>
              <a:spcAft>
                <a:spcPts val="0"/>
              </a:spcAft>
              <a:buClr>
                <a:srgbClr val="67534F"/>
              </a:buClr>
              <a:buSzPts val="2550"/>
              <a:buFont typeface="Marcellus"/>
              <a:buNone/>
            </a:pPr>
            <a:r>
              <a:rPr b="0" i="0" lang="en-US" sz="2550" u="none" cap="none" strike="noStrike">
                <a:solidFill>
                  <a:srgbClr val="67534F"/>
                </a:solidFill>
                <a:latin typeface="Marcellus"/>
                <a:ea typeface="Marcellus"/>
                <a:cs typeface="Marcellus"/>
                <a:sym typeface="Marcellus"/>
              </a:rPr>
              <a:t>Text Classification</a:t>
            </a:r>
            <a:endParaRPr b="0" i="0" sz="2550" u="none" cap="none" strike="noStrike"/>
          </a:p>
        </p:txBody>
      </p:sp>
      <p:sp>
        <p:nvSpPr>
          <p:cNvPr id="84" name="Google Shape;84;p11"/>
          <p:cNvSpPr/>
          <p:nvPr/>
        </p:nvSpPr>
        <p:spPr>
          <a:xfrm>
            <a:off x="793790" y="3744992"/>
            <a:ext cx="4196358" cy="58959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1428"/>
              </a:lnSpc>
              <a:spcBef>
                <a:spcPts val="0"/>
              </a:spcBef>
              <a:spcAft>
                <a:spcPts val="0"/>
              </a:spcAft>
              <a:buClr>
                <a:srgbClr val="67534F"/>
              </a:buClr>
              <a:buSzPts val="1750"/>
              <a:buFont typeface="Montserrat"/>
              <a:buNone/>
            </a:pPr>
            <a:r>
              <a:rPr b="0" i="0" lang="en-US" sz="1750" u="none" cap="none" strike="noStrike">
                <a:solidFill>
                  <a:srgbClr val="67534F"/>
                </a:solidFill>
                <a:latin typeface="Montserrat"/>
                <a:ea typeface="Montserrat"/>
                <a:cs typeface="Montserrat"/>
                <a:sym typeface="Montserrat"/>
              </a:rPr>
              <a:t>Spam filtering, sentiment analysis, and document categorization</a:t>
            </a:r>
            <a:endParaRPr b="0" i="0" sz="1750" u="none" cap="none" strike="noStrike"/>
          </a:p>
        </p:txBody>
      </p:sp>
      <p:sp>
        <p:nvSpPr>
          <p:cNvPr id="85" name="Google Shape;85;p11"/>
          <p:cNvSpPr/>
          <p:nvPr/>
        </p:nvSpPr>
        <p:spPr>
          <a:xfrm>
            <a:off x="5216931" y="2644375"/>
            <a:ext cx="576600" cy="294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1428"/>
              </a:lnSpc>
              <a:spcBef>
                <a:spcPts val="0"/>
              </a:spcBef>
              <a:spcAft>
                <a:spcPts val="0"/>
              </a:spcAft>
              <a:buClr>
                <a:srgbClr val="67534F"/>
              </a:buClr>
              <a:buSzPts val="1750"/>
              <a:buFont typeface="Marcellus"/>
              <a:buNone/>
            </a:pPr>
            <a:r>
              <a:rPr b="0" i="0" lang="en-US" sz="1750" u="none" cap="none" strike="noStrike">
                <a:solidFill>
                  <a:srgbClr val="67534F"/>
                </a:solidFill>
                <a:latin typeface="Marcellus"/>
                <a:ea typeface="Marcellus"/>
                <a:cs typeface="Marcellus"/>
                <a:sym typeface="Marcellus"/>
              </a:rPr>
              <a:t>02</a:t>
            </a:r>
            <a:endParaRPr b="0" i="0" sz="1750" u="none" cap="none" strike="noStrike"/>
          </a:p>
        </p:txBody>
      </p:sp>
      <p:sp>
        <p:nvSpPr>
          <p:cNvPr id="86" name="Google Shape;86;p11"/>
          <p:cNvSpPr/>
          <p:nvPr/>
        </p:nvSpPr>
        <p:spPr>
          <a:xfrm>
            <a:off x="5216962" y="3010733"/>
            <a:ext cx="4196358" cy="30480"/>
          </a:xfrm>
          <a:prstGeom prst="rect">
            <a:avLst/>
          </a:prstGeom>
          <a:solidFill>
            <a:srgbClr val="FF954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p11"/>
          <p:cNvSpPr/>
          <p:nvPr/>
        </p:nvSpPr>
        <p:spPr>
          <a:xfrm>
            <a:off x="5216962" y="3185041"/>
            <a:ext cx="3260646" cy="42386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9411"/>
              </a:lnSpc>
              <a:spcBef>
                <a:spcPts val="0"/>
              </a:spcBef>
              <a:spcAft>
                <a:spcPts val="0"/>
              </a:spcAft>
              <a:buClr>
                <a:srgbClr val="67534F"/>
              </a:buClr>
              <a:buSzPts val="2550"/>
              <a:buFont typeface="Marcellus"/>
              <a:buNone/>
            </a:pPr>
            <a:r>
              <a:rPr b="0" i="0" lang="en-US" sz="2550" u="none" cap="none" strike="noStrike">
                <a:solidFill>
                  <a:srgbClr val="67534F"/>
                </a:solidFill>
                <a:latin typeface="Marcellus"/>
                <a:ea typeface="Marcellus"/>
                <a:cs typeface="Marcellus"/>
                <a:sym typeface="Marcellus"/>
              </a:rPr>
              <a:t>Image Recognition</a:t>
            </a:r>
            <a:endParaRPr b="0" i="0" sz="2550" u="none" cap="none" strike="noStrike"/>
          </a:p>
        </p:txBody>
      </p:sp>
      <p:sp>
        <p:nvSpPr>
          <p:cNvPr id="88" name="Google Shape;88;p11"/>
          <p:cNvSpPr/>
          <p:nvPr/>
        </p:nvSpPr>
        <p:spPr>
          <a:xfrm>
            <a:off x="5216962" y="3744992"/>
            <a:ext cx="4196358" cy="58959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1428"/>
              </a:lnSpc>
              <a:spcBef>
                <a:spcPts val="0"/>
              </a:spcBef>
              <a:spcAft>
                <a:spcPts val="0"/>
              </a:spcAft>
              <a:buClr>
                <a:srgbClr val="67534F"/>
              </a:buClr>
              <a:buSzPts val="1750"/>
              <a:buFont typeface="Montserrat"/>
              <a:buNone/>
            </a:pPr>
            <a:r>
              <a:rPr b="0" i="0" lang="en-US" sz="1750" u="none" cap="none" strike="noStrike">
                <a:solidFill>
                  <a:srgbClr val="67534F"/>
                </a:solidFill>
                <a:latin typeface="Montserrat"/>
                <a:ea typeface="Montserrat"/>
                <a:cs typeface="Montserrat"/>
                <a:sym typeface="Montserrat"/>
              </a:rPr>
              <a:t>Facial detection, object classification, and pattern recognition</a:t>
            </a:r>
            <a:endParaRPr b="0" i="0" sz="1750" u="none" cap="none" strike="noStrike"/>
          </a:p>
        </p:txBody>
      </p:sp>
      <p:sp>
        <p:nvSpPr>
          <p:cNvPr id="89" name="Google Shape;89;p11"/>
          <p:cNvSpPr/>
          <p:nvPr/>
        </p:nvSpPr>
        <p:spPr>
          <a:xfrm>
            <a:off x="9640120" y="2644375"/>
            <a:ext cx="372000" cy="294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1428"/>
              </a:lnSpc>
              <a:spcBef>
                <a:spcPts val="0"/>
              </a:spcBef>
              <a:spcAft>
                <a:spcPts val="0"/>
              </a:spcAft>
              <a:buClr>
                <a:srgbClr val="67534F"/>
              </a:buClr>
              <a:buSzPts val="1750"/>
              <a:buFont typeface="Marcellus"/>
              <a:buNone/>
            </a:pPr>
            <a:r>
              <a:rPr b="0" i="0" lang="en-US" sz="1750" u="none" cap="none" strike="noStrike">
                <a:solidFill>
                  <a:srgbClr val="67534F"/>
                </a:solidFill>
                <a:latin typeface="Marcellus"/>
                <a:ea typeface="Marcellus"/>
                <a:cs typeface="Marcellus"/>
                <a:sym typeface="Marcellus"/>
              </a:rPr>
              <a:t>03</a:t>
            </a:r>
            <a:endParaRPr b="0" i="0" sz="1750" u="none" cap="none" strike="noStrike"/>
          </a:p>
        </p:txBody>
      </p:sp>
      <p:sp>
        <p:nvSpPr>
          <p:cNvPr id="90" name="Google Shape;90;p11"/>
          <p:cNvSpPr/>
          <p:nvPr/>
        </p:nvSpPr>
        <p:spPr>
          <a:xfrm>
            <a:off x="9640133" y="3010733"/>
            <a:ext cx="4196358" cy="30480"/>
          </a:xfrm>
          <a:prstGeom prst="rect">
            <a:avLst/>
          </a:prstGeom>
          <a:solidFill>
            <a:srgbClr val="FF954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" name="Google Shape;91;p11"/>
          <p:cNvSpPr/>
          <p:nvPr/>
        </p:nvSpPr>
        <p:spPr>
          <a:xfrm>
            <a:off x="9640133" y="3185041"/>
            <a:ext cx="3260646" cy="42386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9411"/>
              </a:lnSpc>
              <a:spcBef>
                <a:spcPts val="0"/>
              </a:spcBef>
              <a:spcAft>
                <a:spcPts val="0"/>
              </a:spcAft>
              <a:buClr>
                <a:srgbClr val="67534F"/>
              </a:buClr>
              <a:buSzPts val="2550"/>
              <a:buFont typeface="Marcellus"/>
              <a:buNone/>
            </a:pPr>
            <a:r>
              <a:rPr b="0" i="0" lang="en-US" sz="2550" u="none" cap="none" strike="noStrike">
                <a:solidFill>
                  <a:srgbClr val="67534F"/>
                </a:solidFill>
                <a:latin typeface="Marcellus"/>
                <a:ea typeface="Marcellus"/>
                <a:cs typeface="Marcellus"/>
                <a:sym typeface="Marcellus"/>
              </a:rPr>
              <a:t>Medical Diagnosis</a:t>
            </a:r>
            <a:endParaRPr b="0" i="0" sz="2550" u="none" cap="none" strike="noStrike"/>
          </a:p>
        </p:txBody>
      </p:sp>
      <p:sp>
        <p:nvSpPr>
          <p:cNvPr id="92" name="Google Shape;92;p11"/>
          <p:cNvSpPr/>
          <p:nvPr/>
        </p:nvSpPr>
        <p:spPr>
          <a:xfrm>
            <a:off x="9640133" y="3744992"/>
            <a:ext cx="4196358" cy="8843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1428"/>
              </a:lnSpc>
              <a:spcBef>
                <a:spcPts val="0"/>
              </a:spcBef>
              <a:spcAft>
                <a:spcPts val="0"/>
              </a:spcAft>
              <a:buClr>
                <a:srgbClr val="67534F"/>
              </a:buClr>
              <a:buSzPts val="1750"/>
              <a:buFont typeface="Montserrat"/>
              <a:buNone/>
            </a:pPr>
            <a:r>
              <a:rPr b="0" i="0" lang="en-US" sz="1750" u="none" cap="none" strike="noStrike">
                <a:solidFill>
                  <a:srgbClr val="67534F"/>
                </a:solidFill>
                <a:latin typeface="Montserrat"/>
                <a:ea typeface="Montserrat"/>
                <a:cs typeface="Montserrat"/>
                <a:sym typeface="Montserrat"/>
              </a:rPr>
              <a:t>Disease prediction, tumor classification, and patient outcome analysis</a:t>
            </a:r>
            <a:endParaRPr b="0" i="0" sz="1750" u="none" cap="none" strike="noStrike"/>
          </a:p>
        </p:txBody>
      </p:sp>
      <p:sp>
        <p:nvSpPr>
          <p:cNvPr id="93" name="Google Shape;93;p11"/>
          <p:cNvSpPr/>
          <p:nvPr/>
        </p:nvSpPr>
        <p:spPr>
          <a:xfrm>
            <a:off x="793805" y="5026225"/>
            <a:ext cx="372000" cy="294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1428"/>
              </a:lnSpc>
              <a:spcBef>
                <a:spcPts val="0"/>
              </a:spcBef>
              <a:spcAft>
                <a:spcPts val="0"/>
              </a:spcAft>
              <a:buClr>
                <a:srgbClr val="67534F"/>
              </a:buClr>
              <a:buSzPts val="1750"/>
              <a:buFont typeface="Marcellus"/>
              <a:buNone/>
            </a:pPr>
            <a:r>
              <a:rPr b="0" i="0" lang="en-US" sz="1750" u="none" cap="none" strike="noStrike">
                <a:solidFill>
                  <a:srgbClr val="67534F"/>
                </a:solidFill>
                <a:latin typeface="Marcellus"/>
                <a:ea typeface="Marcellus"/>
                <a:cs typeface="Marcellus"/>
                <a:sym typeface="Marcellus"/>
              </a:rPr>
              <a:t>04</a:t>
            </a:r>
            <a:endParaRPr b="0" i="0" sz="1750" u="none" cap="none" strike="noStrike"/>
          </a:p>
        </p:txBody>
      </p:sp>
      <p:sp>
        <p:nvSpPr>
          <p:cNvPr id="94" name="Google Shape;94;p11"/>
          <p:cNvSpPr/>
          <p:nvPr/>
        </p:nvSpPr>
        <p:spPr>
          <a:xfrm>
            <a:off x="793790" y="5392579"/>
            <a:ext cx="6407944" cy="30480"/>
          </a:xfrm>
          <a:prstGeom prst="rect">
            <a:avLst/>
          </a:prstGeom>
          <a:solidFill>
            <a:srgbClr val="FF954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" name="Google Shape;95;p11"/>
          <p:cNvSpPr/>
          <p:nvPr/>
        </p:nvSpPr>
        <p:spPr>
          <a:xfrm>
            <a:off x="793790" y="5566886"/>
            <a:ext cx="3260646" cy="42386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9411"/>
              </a:lnSpc>
              <a:spcBef>
                <a:spcPts val="0"/>
              </a:spcBef>
              <a:spcAft>
                <a:spcPts val="0"/>
              </a:spcAft>
              <a:buClr>
                <a:srgbClr val="67534F"/>
              </a:buClr>
              <a:buSzPts val="2550"/>
              <a:buFont typeface="Marcellus"/>
              <a:buNone/>
            </a:pPr>
            <a:r>
              <a:rPr b="0" i="0" lang="en-US" sz="2550" u="none" cap="none" strike="noStrike">
                <a:solidFill>
                  <a:srgbClr val="67534F"/>
                </a:solidFill>
                <a:latin typeface="Marcellus"/>
                <a:ea typeface="Marcellus"/>
                <a:cs typeface="Marcellus"/>
                <a:sym typeface="Marcellus"/>
              </a:rPr>
              <a:t>Bioinformatics</a:t>
            </a:r>
            <a:endParaRPr b="0" i="0" sz="2550" u="none" cap="none" strike="noStrike"/>
          </a:p>
        </p:txBody>
      </p:sp>
      <p:sp>
        <p:nvSpPr>
          <p:cNvPr id="96" name="Google Shape;96;p11"/>
          <p:cNvSpPr/>
          <p:nvPr/>
        </p:nvSpPr>
        <p:spPr>
          <a:xfrm>
            <a:off x="793790" y="6126837"/>
            <a:ext cx="6407944" cy="58959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1428"/>
              </a:lnSpc>
              <a:spcBef>
                <a:spcPts val="0"/>
              </a:spcBef>
              <a:spcAft>
                <a:spcPts val="0"/>
              </a:spcAft>
              <a:buClr>
                <a:srgbClr val="67534F"/>
              </a:buClr>
              <a:buSzPts val="1750"/>
              <a:buFont typeface="Montserrat"/>
              <a:buNone/>
            </a:pPr>
            <a:r>
              <a:rPr b="0" i="0" lang="en-US" sz="1750" u="none" cap="none" strike="noStrike">
                <a:solidFill>
                  <a:srgbClr val="67534F"/>
                </a:solidFill>
                <a:latin typeface="Montserrat"/>
                <a:ea typeface="Montserrat"/>
                <a:cs typeface="Montserrat"/>
                <a:sym typeface="Montserrat"/>
              </a:rPr>
              <a:t>Protein structure prediction and gene expression analysis</a:t>
            </a:r>
            <a:endParaRPr b="0" i="0" sz="1750" u="none" cap="none" strike="noStrike"/>
          </a:p>
        </p:txBody>
      </p:sp>
      <p:sp>
        <p:nvSpPr>
          <p:cNvPr id="97" name="Google Shape;97;p11"/>
          <p:cNvSpPr/>
          <p:nvPr/>
        </p:nvSpPr>
        <p:spPr>
          <a:xfrm>
            <a:off x="7428553" y="5026225"/>
            <a:ext cx="576600" cy="294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1428"/>
              </a:lnSpc>
              <a:spcBef>
                <a:spcPts val="0"/>
              </a:spcBef>
              <a:spcAft>
                <a:spcPts val="0"/>
              </a:spcAft>
              <a:buClr>
                <a:srgbClr val="67534F"/>
              </a:buClr>
              <a:buSzPts val="1750"/>
              <a:buFont typeface="Marcellus"/>
              <a:buNone/>
            </a:pPr>
            <a:r>
              <a:rPr b="0" i="0" lang="en-US" sz="1750" u="none" cap="none" strike="noStrike">
                <a:solidFill>
                  <a:srgbClr val="67534F"/>
                </a:solidFill>
                <a:latin typeface="Marcellus"/>
                <a:ea typeface="Marcellus"/>
                <a:cs typeface="Marcellus"/>
                <a:sym typeface="Marcellus"/>
              </a:rPr>
              <a:t>05</a:t>
            </a:r>
            <a:endParaRPr b="0" i="0" sz="1750" u="none" cap="none" strike="noStrike"/>
          </a:p>
        </p:txBody>
      </p:sp>
      <p:sp>
        <p:nvSpPr>
          <p:cNvPr id="98" name="Google Shape;98;p11"/>
          <p:cNvSpPr/>
          <p:nvPr/>
        </p:nvSpPr>
        <p:spPr>
          <a:xfrm>
            <a:off x="7428548" y="5392579"/>
            <a:ext cx="6407944" cy="30480"/>
          </a:xfrm>
          <a:prstGeom prst="rect">
            <a:avLst/>
          </a:prstGeom>
          <a:solidFill>
            <a:srgbClr val="FF954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" name="Google Shape;99;p11"/>
          <p:cNvSpPr/>
          <p:nvPr/>
        </p:nvSpPr>
        <p:spPr>
          <a:xfrm>
            <a:off x="7428548" y="5566886"/>
            <a:ext cx="3260646" cy="42386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9411"/>
              </a:lnSpc>
              <a:spcBef>
                <a:spcPts val="0"/>
              </a:spcBef>
              <a:spcAft>
                <a:spcPts val="0"/>
              </a:spcAft>
              <a:buClr>
                <a:srgbClr val="67534F"/>
              </a:buClr>
              <a:buSzPts val="2550"/>
              <a:buFont typeface="Marcellus"/>
              <a:buNone/>
            </a:pPr>
            <a:r>
              <a:rPr b="0" i="0" lang="en-US" sz="2550" u="none" cap="none" strike="noStrike">
                <a:solidFill>
                  <a:srgbClr val="67534F"/>
                </a:solidFill>
                <a:latin typeface="Marcellus"/>
                <a:ea typeface="Marcellus"/>
                <a:cs typeface="Marcellus"/>
                <a:sym typeface="Marcellus"/>
              </a:rPr>
              <a:t>Financial Modeling</a:t>
            </a:r>
            <a:endParaRPr b="0" i="0" sz="2550" u="none" cap="none" strike="noStrike"/>
          </a:p>
        </p:txBody>
      </p:sp>
      <p:sp>
        <p:nvSpPr>
          <p:cNvPr id="100" name="Google Shape;100;p11"/>
          <p:cNvSpPr/>
          <p:nvPr/>
        </p:nvSpPr>
        <p:spPr>
          <a:xfrm>
            <a:off x="7428548" y="6126837"/>
            <a:ext cx="6407944" cy="58959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1428"/>
              </a:lnSpc>
              <a:spcBef>
                <a:spcPts val="0"/>
              </a:spcBef>
              <a:spcAft>
                <a:spcPts val="0"/>
              </a:spcAft>
              <a:buClr>
                <a:srgbClr val="67534F"/>
              </a:buClr>
              <a:buSzPts val="1750"/>
              <a:buFont typeface="Montserrat"/>
              <a:buNone/>
            </a:pPr>
            <a:r>
              <a:rPr b="0" i="0" lang="en-US" sz="1750" u="none" cap="none" strike="noStrike">
                <a:solidFill>
                  <a:srgbClr val="67534F"/>
                </a:solidFill>
                <a:latin typeface="Montserrat"/>
                <a:ea typeface="Montserrat"/>
                <a:cs typeface="Montserrat"/>
                <a:sym typeface="Montserrat"/>
              </a:rPr>
              <a:t>Credit risk assessment, fraud detection, and market prediction</a:t>
            </a:r>
            <a:endParaRPr b="0" i="0" sz="1750" u="none" cap="none" strike="noStrike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12"/>
          <p:cNvSpPr/>
          <p:nvPr/>
        </p:nvSpPr>
        <p:spPr>
          <a:xfrm>
            <a:off x="793790" y="1210270"/>
            <a:ext cx="6521291" cy="8477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392"/>
              </a:lnSpc>
              <a:spcBef>
                <a:spcPts val="0"/>
              </a:spcBef>
              <a:spcAft>
                <a:spcPts val="0"/>
              </a:spcAft>
              <a:buClr>
                <a:srgbClr val="532418"/>
              </a:buClr>
              <a:buSzPts val="5100"/>
              <a:buFont typeface="Marcellus"/>
              <a:buNone/>
            </a:pPr>
            <a:r>
              <a:rPr b="0" i="0" lang="en-US" sz="5100" u="none" cap="none" strike="noStrike">
                <a:solidFill>
                  <a:srgbClr val="532418"/>
                </a:solidFill>
                <a:latin typeface="Marcellus"/>
                <a:ea typeface="Marcellus"/>
                <a:cs typeface="Marcellus"/>
                <a:sym typeface="Marcellus"/>
              </a:rPr>
              <a:t>Module Roadmap</a:t>
            </a:r>
            <a:endParaRPr b="0" i="0" sz="5100" u="none" cap="none" strike="noStrike"/>
          </a:p>
        </p:txBody>
      </p:sp>
      <p:sp>
        <p:nvSpPr>
          <p:cNvPr id="107" name="Google Shape;107;p12"/>
          <p:cNvSpPr/>
          <p:nvPr/>
        </p:nvSpPr>
        <p:spPr>
          <a:xfrm>
            <a:off x="793790" y="2398157"/>
            <a:ext cx="6407944" cy="2344579"/>
          </a:xfrm>
          <a:prstGeom prst="roundRect">
            <a:avLst>
              <a:gd fmla="val 4063" name="adj"/>
            </a:avLst>
          </a:prstGeom>
          <a:solidFill>
            <a:srgbClr val="FFFFF4">
              <a:alpha val="94901"/>
            </a:srgbClr>
          </a:solidFill>
          <a:ln cap="flat" cmpd="sng" w="30475">
            <a:solidFill>
              <a:srgbClr val="FFE0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" name="Google Shape;108;p12"/>
          <p:cNvSpPr/>
          <p:nvPr/>
        </p:nvSpPr>
        <p:spPr>
          <a:xfrm>
            <a:off x="824270" y="2428637"/>
            <a:ext cx="6346984" cy="680442"/>
          </a:xfrm>
          <a:prstGeom prst="roundRect">
            <a:avLst>
              <a:gd fmla="val 8626" name="adj"/>
            </a:avLst>
          </a:prstGeom>
          <a:solidFill>
            <a:srgbClr val="FFFF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" name="Google Shape;109;p12"/>
          <p:cNvSpPr/>
          <p:nvPr/>
        </p:nvSpPr>
        <p:spPr>
          <a:xfrm>
            <a:off x="3827621" y="2536269"/>
            <a:ext cx="340162" cy="44219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7534F"/>
              </a:buClr>
              <a:buSzPts val="2650"/>
              <a:buFont typeface="Marcellus"/>
              <a:buNone/>
            </a:pPr>
            <a:r>
              <a:rPr b="0" i="0" lang="en-US" sz="2650" u="none" cap="none" strike="noStrike">
                <a:solidFill>
                  <a:srgbClr val="67534F"/>
                </a:solidFill>
                <a:latin typeface="Marcellus"/>
                <a:ea typeface="Marcellus"/>
                <a:cs typeface="Marcellus"/>
                <a:sym typeface="Marcellus"/>
              </a:rPr>
              <a:t>1</a:t>
            </a:r>
            <a:endParaRPr b="0" i="0" sz="2650" u="none" cap="none" strike="noStrike"/>
          </a:p>
        </p:txBody>
      </p:sp>
      <p:sp>
        <p:nvSpPr>
          <p:cNvPr id="110" name="Google Shape;110;p12"/>
          <p:cNvSpPr/>
          <p:nvPr/>
        </p:nvSpPr>
        <p:spPr>
          <a:xfrm>
            <a:off x="1051084" y="3335893"/>
            <a:ext cx="3260646" cy="42386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9411"/>
              </a:lnSpc>
              <a:spcBef>
                <a:spcPts val="0"/>
              </a:spcBef>
              <a:spcAft>
                <a:spcPts val="0"/>
              </a:spcAft>
              <a:buClr>
                <a:srgbClr val="67534F"/>
              </a:buClr>
              <a:buSzPts val="2550"/>
              <a:buFont typeface="Marcellus"/>
              <a:buNone/>
            </a:pPr>
            <a:r>
              <a:rPr b="0" i="0" lang="en-US" sz="2550" u="none" cap="none" strike="noStrike">
                <a:solidFill>
                  <a:srgbClr val="67534F"/>
                </a:solidFill>
                <a:latin typeface="Marcellus"/>
                <a:ea typeface="Marcellus"/>
                <a:cs typeface="Marcellus"/>
                <a:sym typeface="Marcellus"/>
              </a:rPr>
              <a:t>SVC Basics</a:t>
            </a:r>
            <a:endParaRPr b="0" i="0" sz="2550" u="none" cap="none" strike="noStrike"/>
          </a:p>
        </p:txBody>
      </p:sp>
      <p:sp>
        <p:nvSpPr>
          <p:cNvPr id="111" name="Google Shape;111;p12"/>
          <p:cNvSpPr/>
          <p:nvPr/>
        </p:nvSpPr>
        <p:spPr>
          <a:xfrm>
            <a:off x="1051084" y="3895844"/>
            <a:ext cx="5893356" cy="58959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1428"/>
              </a:lnSpc>
              <a:spcBef>
                <a:spcPts val="0"/>
              </a:spcBef>
              <a:spcAft>
                <a:spcPts val="0"/>
              </a:spcAft>
              <a:buClr>
                <a:srgbClr val="67534F"/>
              </a:buClr>
              <a:buSzPts val="1750"/>
              <a:buFont typeface="Montserrat"/>
              <a:buNone/>
            </a:pPr>
            <a:r>
              <a:rPr b="0" i="0" lang="en-US" sz="1750" u="none" cap="none" strike="noStrike">
                <a:solidFill>
                  <a:srgbClr val="67534F"/>
                </a:solidFill>
                <a:latin typeface="Montserrat"/>
                <a:ea typeface="Montserrat"/>
                <a:cs typeface="Montserrat"/>
                <a:sym typeface="Montserrat"/>
              </a:rPr>
              <a:t>Understanding margins, hyperplanes, and support vectors</a:t>
            </a:r>
            <a:endParaRPr b="0" i="0" sz="1750" u="none" cap="none" strike="noStrike"/>
          </a:p>
        </p:txBody>
      </p:sp>
      <p:sp>
        <p:nvSpPr>
          <p:cNvPr id="112" name="Google Shape;112;p12"/>
          <p:cNvSpPr/>
          <p:nvPr/>
        </p:nvSpPr>
        <p:spPr>
          <a:xfrm>
            <a:off x="7428548" y="2398157"/>
            <a:ext cx="6408063" cy="2344579"/>
          </a:xfrm>
          <a:prstGeom prst="roundRect">
            <a:avLst>
              <a:gd fmla="val 4063" name="adj"/>
            </a:avLst>
          </a:prstGeom>
          <a:solidFill>
            <a:srgbClr val="FFFFF4">
              <a:alpha val="94901"/>
            </a:srgbClr>
          </a:solidFill>
          <a:ln cap="flat" cmpd="sng" w="30475">
            <a:solidFill>
              <a:srgbClr val="FFE0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" name="Google Shape;113;p12"/>
          <p:cNvSpPr/>
          <p:nvPr/>
        </p:nvSpPr>
        <p:spPr>
          <a:xfrm>
            <a:off x="7459027" y="2428637"/>
            <a:ext cx="6347103" cy="680442"/>
          </a:xfrm>
          <a:prstGeom prst="roundRect">
            <a:avLst>
              <a:gd fmla="val 8626" name="adj"/>
            </a:avLst>
          </a:prstGeom>
          <a:solidFill>
            <a:srgbClr val="FFFF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" name="Google Shape;114;p12"/>
          <p:cNvSpPr/>
          <p:nvPr/>
        </p:nvSpPr>
        <p:spPr>
          <a:xfrm>
            <a:off x="10462498" y="2536269"/>
            <a:ext cx="340162" cy="44219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7534F"/>
              </a:buClr>
              <a:buSzPts val="2650"/>
              <a:buFont typeface="Marcellus"/>
              <a:buNone/>
            </a:pPr>
            <a:r>
              <a:rPr b="0" i="0" lang="en-US" sz="2650" u="none" cap="none" strike="noStrike">
                <a:solidFill>
                  <a:srgbClr val="67534F"/>
                </a:solidFill>
                <a:latin typeface="Marcellus"/>
                <a:ea typeface="Marcellus"/>
                <a:cs typeface="Marcellus"/>
                <a:sym typeface="Marcellus"/>
              </a:rPr>
              <a:t>2</a:t>
            </a:r>
            <a:endParaRPr b="0" i="0" sz="2650" u="none" cap="none" strike="noStrike"/>
          </a:p>
        </p:txBody>
      </p:sp>
      <p:sp>
        <p:nvSpPr>
          <p:cNvPr id="115" name="Google Shape;115;p12"/>
          <p:cNvSpPr/>
          <p:nvPr/>
        </p:nvSpPr>
        <p:spPr>
          <a:xfrm>
            <a:off x="7685842" y="3335893"/>
            <a:ext cx="3260646" cy="42386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9411"/>
              </a:lnSpc>
              <a:spcBef>
                <a:spcPts val="0"/>
              </a:spcBef>
              <a:spcAft>
                <a:spcPts val="0"/>
              </a:spcAft>
              <a:buClr>
                <a:srgbClr val="67534F"/>
              </a:buClr>
              <a:buSzPts val="2550"/>
              <a:buFont typeface="Marcellus"/>
              <a:buNone/>
            </a:pPr>
            <a:r>
              <a:rPr b="0" i="0" lang="en-US" sz="2550" u="none" cap="none" strike="noStrike">
                <a:solidFill>
                  <a:srgbClr val="67534F"/>
                </a:solidFill>
                <a:latin typeface="Marcellus"/>
                <a:ea typeface="Marcellus"/>
                <a:cs typeface="Marcellus"/>
                <a:sym typeface="Marcellus"/>
              </a:rPr>
              <a:t>Kernel Methods</a:t>
            </a:r>
            <a:endParaRPr b="0" i="0" sz="2550" u="none" cap="none" strike="noStrike"/>
          </a:p>
        </p:txBody>
      </p:sp>
      <p:sp>
        <p:nvSpPr>
          <p:cNvPr id="116" name="Google Shape;116;p12"/>
          <p:cNvSpPr/>
          <p:nvPr/>
        </p:nvSpPr>
        <p:spPr>
          <a:xfrm>
            <a:off x="7685842" y="3895844"/>
            <a:ext cx="5893475" cy="58959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1428"/>
              </a:lnSpc>
              <a:spcBef>
                <a:spcPts val="0"/>
              </a:spcBef>
              <a:spcAft>
                <a:spcPts val="0"/>
              </a:spcAft>
              <a:buClr>
                <a:srgbClr val="67534F"/>
              </a:buClr>
              <a:buSzPts val="1750"/>
              <a:buFont typeface="Montserrat"/>
              <a:buNone/>
            </a:pPr>
            <a:r>
              <a:rPr b="0" i="0" lang="en-US" sz="1750" u="none" cap="none" strike="noStrike">
                <a:solidFill>
                  <a:srgbClr val="67534F"/>
                </a:solidFill>
                <a:latin typeface="Montserrat"/>
                <a:ea typeface="Montserrat"/>
                <a:cs typeface="Montserrat"/>
                <a:sym typeface="Montserrat"/>
              </a:rPr>
              <a:t>Linear, Polynomial, and RBF kernels for nonlinear problems</a:t>
            </a:r>
            <a:endParaRPr b="0" i="0" sz="1750" u="none" cap="none" strike="noStrike"/>
          </a:p>
        </p:txBody>
      </p:sp>
      <p:sp>
        <p:nvSpPr>
          <p:cNvPr id="117" name="Google Shape;117;p12"/>
          <p:cNvSpPr/>
          <p:nvPr/>
        </p:nvSpPr>
        <p:spPr>
          <a:xfrm>
            <a:off x="793790" y="4969550"/>
            <a:ext cx="6407944" cy="2049780"/>
          </a:xfrm>
          <a:prstGeom prst="roundRect">
            <a:avLst>
              <a:gd fmla="val 4648" name="adj"/>
            </a:avLst>
          </a:prstGeom>
          <a:solidFill>
            <a:srgbClr val="FFFFF4">
              <a:alpha val="94901"/>
            </a:srgbClr>
          </a:solidFill>
          <a:ln cap="flat" cmpd="sng" w="30475">
            <a:solidFill>
              <a:srgbClr val="FFE0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" name="Google Shape;118;p12"/>
          <p:cNvSpPr/>
          <p:nvPr/>
        </p:nvSpPr>
        <p:spPr>
          <a:xfrm>
            <a:off x="824270" y="5000030"/>
            <a:ext cx="6346984" cy="680442"/>
          </a:xfrm>
          <a:prstGeom prst="roundRect">
            <a:avLst>
              <a:gd fmla="val 8626" name="adj"/>
            </a:avLst>
          </a:prstGeom>
          <a:solidFill>
            <a:srgbClr val="FFFF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" name="Google Shape;119;p12"/>
          <p:cNvSpPr/>
          <p:nvPr/>
        </p:nvSpPr>
        <p:spPr>
          <a:xfrm>
            <a:off x="3827621" y="5107662"/>
            <a:ext cx="340162" cy="44219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7534F"/>
              </a:buClr>
              <a:buSzPts val="2650"/>
              <a:buFont typeface="Marcellus"/>
              <a:buNone/>
            </a:pPr>
            <a:r>
              <a:rPr b="0" i="0" lang="en-US" sz="2650" u="none" cap="none" strike="noStrike">
                <a:solidFill>
                  <a:srgbClr val="67534F"/>
                </a:solidFill>
                <a:latin typeface="Marcellus"/>
                <a:ea typeface="Marcellus"/>
                <a:cs typeface="Marcellus"/>
                <a:sym typeface="Marcellus"/>
              </a:rPr>
              <a:t>3</a:t>
            </a:r>
            <a:endParaRPr b="0" i="0" sz="2650" u="none" cap="none" strike="noStrike"/>
          </a:p>
        </p:txBody>
      </p:sp>
      <p:sp>
        <p:nvSpPr>
          <p:cNvPr id="120" name="Google Shape;120;p12"/>
          <p:cNvSpPr/>
          <p:nvPr/>
        </p:nvSpPr>
        <p:spPr>
          <a:xfrm>
            <a:off x="1051084" y="5907286"/>
            <a:ext cx="4324588" cy="42386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9411"/>
              </a:lnSpc>
              <a:spcBef>
                <a:spcPts val="0"/>
              </a:spcBef>
              <a:spcAft>
                <a:spcPts val="0"/>
              </a:spcAft>
              <a:buClr>
                <a:srgbClr val="67534F"/>
              </a:buClr>
              <a:buSzPts val="2550"/>
              <a:buFont typeface="Marcellus"/>
              <a:buNone/>
            </a:pPr>
            <a:r>
              <a:rPr b="0" i="0" lang="en-US" sz="2550" u="none" cap="none" strike="noStrike">
                <a:solidFill>
                  <a:srgbClr val="67534F"/>
                </a:solidFill>
                <a:latin typeface="Marcellus"/>
                <a:ea typeface="Marcellus"/>
                <a:cs typeface="Marcellus"/>
                <a:sym typeface="Marcellus"/>
              </a:rPr>
              <a:t>Classification Implementation</a:t>
            </a:r>
            <a:endParaRPr b="0" i="0" sz="2550" u="none" cap="none" strike="noStrike"/>
          </a:p>
        </p:txBody>
      </p:sp>
      <p:sp>
        <p:nvSpPr>
          <p:cNvPr id="121" name="Google Shape;121;p12"/>
          <p:cNvSpPr/>
          <p:nvPr/>
        </p:nvSpPr>
        <p:spPr>
          <a:xfrm>
            <a:off x="1051084" y="6467237"/>
            <a:ext cx="5893356" cy="2947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1428"/>
              </a:lnSpc>
              <a:spcBef>
                <a:spcPts val="0"/>
              </a:spcBef>
              <a:spcAft>
                <a:spcPts val="0"/>
              </a:spcAft>
              <a:buClr>
                <a:srgbClr val="67534F"/>
              </a:buClr>
              <a:buSzPts val="1750"/>
              <a:buFont typeface="Montserrat"/>
              <a:buNone/>
            </a:pPr>
            <a:r>
              <a:rPr b="0" i="0" lang="en-US" sz="1750" u="none" cap="none" strike="noStrike">
                <a:solidFill>
                  <a:srgbClr val="67534F"/>
                </a:solidFill>
                <a:latin typeface="Montserrat"/>
                <a:ea typeface="Montserrat"/>
                <a:cs typeface="Montserrat"/>
                <a:sym typeface="Montserrat"/>
              </a:rPr>
              <a:t>Building and tuning Support Vector Classifiers</a:t>
            </a:r>
            <a:endParaRPr b="0" i="0" sz="1750" u="none" cap="none" strike="noStrike"/>
          </a:p>
        </p:txBody>
      </p:sp>
      <p:sp>
        <p:nvSpPr>
          <p:cNvPr id="122" name="Google Shape;122;p12"/>
          <p:cNvSpPr/>
          <p:nvPr/>
        </p:nvSpPr>
        <p:spPr>
          <a:xfrm>
            <a:off x="7428548" y="4969550"/>
            <a:ext cx="6408063" cy="2049780"/>
          </a:xfrm>
          <a:prstGeom prst="roundRect">
            <a:avLst>
              <a:gd fmla="val 4648" name="adj"/>
            </a:avLst>
          </a:prstGeom>
          <a:solidFill>
            <a:srgbClr val="FFFFF4">
              <a:alpha val="94901"/>
            </a:srgbClr>
          </a:solidFill>
          <a:ln cap="flat" cmpd="sng" w="30475">
            <a:solidFill>
              <a:srgbClr val="FFE0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" name="Google Shape;123;p12"/>
          <p:cNvSpPr/>
          <p:nvPr/>
        </p:nvSpPr>
        <p:spPr>
          <a:xfrm>
            <a:off x="7459027" y="5000030"/>
            <a:ext cx="6347103" cy="680442"/>
          </a:xfrm>
          <a:prstGeom prst="roundRect">
            <a:avLst>
              <a:gd fmla="val 8626" name="adj"/>
            </a:avLst>
          </a:prstGeom>
          <a:solidFill>
            <a:srgbClr val="FFFF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" name="Google Shape;124;p12"/>
          <p:cNvSpPr/>
          <p:nvPr/>
        </p:nvSpPr>
        <p:spPr>
          <a:xfrm>
            <a:off x="10462498" y="5107662"/>
            <a:ext cx="340162" cy="44219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7534F"/>
              </a:buClr>
              <a:buSzPts val="2650"/>
              <a:buFont typeface="Marcellus"/>
              <a:buNone/>
            </a:pPr>
            <a:r>
              <a:rPr b="0" i="0" lang="en-US" sz="2650" u="none" cap="none" strike="noStrike">
                <a:solidFill>
                  <a:srgbClr val="67534F"/>
                </a:solidFill>
                <a:latin typeface="Marcellus"/>
                <a:ea typeface="Marcellus"/>
                <a:cs typeface="Marcellus"/>
                <a:sym typeface="Marcellus"/>
              </a:rPr>
              <a:t>4</a:t>
            </a:r>
            <a:endParaRPr b="0" i="0" sz="2650" u="none" cap="none" strike="noStrike"/>
          </a:p>
        </p:txBody>
      </p:sp>
      <p:sp>
        <p:nvSpPr>
          <p:cNvPr id="125" name="Google Shape;125;p12"/>
          <p:cNvSpPr/>
          <p:nvPr/>
        </p:nvSpPr>
        <p:spPr>
          <a:xfrm>
            <a:off x="7685842" y="5907286"/>
            <a:ext cx="3260646" cy="42386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9411"/>
              </a:lnSpc>
              <a:spcBef>
                <a:spcPts val="0"/>
              </a:spcBef>
              <a:spcAft>
                <a:spcPts val="0"/>
              </a:spcAft>
              <a:buClr>
                <a:srgbClr val="67534F"/>
              </a:buClr>
              <a:buSzPts val="2550"/>
              <a:buFont typeface="Marcellus"/>
              <a:buNone/>
            </a:pPr>
            <a:r>
              <a:rPr b="0" i="0" lang="en-US" sz="2550" u="none" cap="none" strike="noStrike">
                <a:solidFill>
                  <a:srgbClr val="67534F"/>
                </a:solidFill>
                <a:latin typeface="Marcellus"/>
                <a:ea typeface="Marcellus"/>
                <a:cs typeface="Marcellus"/>
                <a:sym typeface="Marcellus"/>
              </a:rPr>
              <a:t>SVR Applications</a:t>
            </a:r>
            <a:endParaRPr b="0" i="0" sz="2550" u="none" cap="none" strike="noStrike"/>
          </a:p>
        </p:txBody>
      </p:sp>
      <p:sp>
        <p:nvSpPr>
          <p:cNvPr id="126" name="Google Shape;126;p12"/>
          <p:cNvSpPr/>
          <p:nvPr/>
        </p:nvSpPr>
        <p:spPr>
          <a:xfrm>
            <a:off x="7685842" y="6467237"/>
            <a:ext cx="5893475" cy="2947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1428"/>
              </a:lnSpc>
              <a:spcBef>
                <a:spcPts val="0"/>
              </a:spcBef>
              <a:spcAft>
                <a:spcPts val="0"/>
              </a:spcAft>
              <a:buClr>
                <a:srgbClr val="67534F"/>
              </a:buClr>
              <a:buSzPts val="1750"/>
              <a:buFont typeface="Montserrat"/>
              <a:buNone/>
            </a:pPr>
            <a:r>
              <a:rPr b="0" i="0" lang="en-US" sz="1750" u="none" cap="none" strike="noStrike">
                <a:solidFill>
                  <a:srgbClr val="67534F"/>
                </a:solidFill>
                <a:latin typeface="Montserrat"/>
                <a:ea typeface="Montserrat"/>
                <a:cs typeface="Montserrat"/>
                <a:sym typeface="Montserrat"/>
              </a:rPr>
              <a:t>Extending SVM to regression problems</a:t>
            </a:r>
            <a:endParaRPr b="0" i="0" sz="1750" u="none" cap="none" strike="noStrike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