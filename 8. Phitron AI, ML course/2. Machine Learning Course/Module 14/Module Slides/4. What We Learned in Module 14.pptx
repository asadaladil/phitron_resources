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</p:sldIdLst>
  <p:sldSz cy="8229600" cx="14630400"/>
  <p:notesSz cx="8229600" cy="14630400"/>
  <p:embeddedFontLst>
    <p:embeddedFont>
      <p:font typeface="Marcellus"/>
      <p:regular r:id="rId8"/>
    </p:embeddedFont>
    <p:embeddedFont>
      <p:font typeface="Montserrat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2" Type="http://schemas.openxmlformats.org/officeDocument/2006/relationships/font" Target="fonts/Montserrat-boldItalic.fntdata"/><Relationship Id="rId9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Marcellu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793790" y="1775103"/>
            <a:ext cx="936736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 Learned in Module 14</a:t>
            </a:r>
            <a:endParaRPr b="0" i="0" sz="5100" u="none" cap="none" strike="noStrike"/>
          </a:p>
        </p:txBody>
      </p:sp>
      <p:sp>
        <p:nvSpPr>
          <p:cNvPr id="26" name="Google Shape;26;p6"/>
          <p:cNvSpPr/>
          <p:nvPr/>
        </p:nvSpPr>
        <p:spPr>
          <a:xfrm>
            <a:off x="793790" y="307645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combined theory with hands-on practice to give you a solid understanding of logistic regression. Here's what you mastered:</a:t>
            </a:r>
            <a:endParaRPr b="0" i="0" sz="1750" u="none" cap="none" strike="noStrike"/>
          </a:p>
        </p:txBody>
      </p:sp>
      <p:sp>
        <p:nvSpPr>
          <p:cNvPr id="27" name="Google Shape;27;p6"/>
          <p:cNvSpPr/>
          <p:nvPr/>
        </p:nvSpPr>
        <p:spPr>
          <a:xfrm>
            <a:off x="793790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1043464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Core Concepts</a:t>
            </a:r>
            <a:endParaRPr b="0" i="0" sz="2550" u="none" cap="none" strike="noStrike"/>
          </a:p>
        </p:txBody>
      </p:sp>
      <p:sp>
        <p:nvSpPr>
          <p:cNvPr id="29" name="Google Shape;29;p6"/>
          <p:cNvSpPr/>
          <p:nvPr/>
        </p:nvSpPr>
        <p:spPr>
          <a:xfrm>
            <a:off x="1043464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explored logistic regression intuition, the sigmoid function, and how log odds create decision boundaries that separate classes.</a:t>
            </a:r>
            <a:endParaRPr b="0" i="0" sz="1750" u="none" cap="none" strike="noStrike"/>
          </a:p>
        </p:txBody>
      </p:sp>
      <p:sp>
        <p:nvSpPr>
          <p:cNvPr id="30" name="Google Shape;30;p6"/>
          <p:cNvSpPr/>
          <p:nvPr/>
        </p:nvSpPr>
        <p:spPr>
          <a:xfrm>
            <a:off x="5216962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5466636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Implementation Skills</a:t>
            </a:r>
            <a:endParaRPr b="0" i="0" sz="2550" u="none" cap="none" strike="noStrike"/>
          </a:p>
        </p:txBody>
      </p:sp>
      <p:sp>
        <p:nvSpPr>
          <p:cNvPr id="32" name="Google Shape;32;p6"/>
          <p:cNvSpPr/>
          <p:nvPr/>
        </p:nvSpPr>
        <p:spPr>
          <a:xfrm>
            <a:off x="5466636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built models on real datasets, understood cost function intuition, and learned to evaluate performance with proper metrics.</a:t>
            </a:r>
            <a:endParaRPr b="0" i="0" sz="1750" u="none" cap="none" strike="noStrike"/>
          </a:p>
        </p:txBody>
      </p:sp>
      <p:sp>
        <p:nvSpPr>
          <p:cNvPr id="33" name="Google Shape;33;p6"/>
          <p:cNvSpPr/>
          <p:nvPr/>
        </p:nvSpPr>
        <p:spPr>
          <a:xfrm>
            <a:off x="9640133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9889808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Advanced Techniques</a:t>
            </a:r>
            <a:endParaRPr b="0" i="0" sz="2550" u="none" cap="none" strike="noStrike"/>
          </a:p>
        </p:txBody>
      </p:sp>
      <p:sp>
        <p:nvSpPr>
          <p:cNvPr id="35" name="Google Shape;35;p6"/>
          <p:cNvSpPr/>
          <p:nvPr/>
        </p:nvSpPr>
        <p:spPr>
          <a:xfrm>
            <a:off x="9889808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discovered how L2 regularization prevents overfitting and keeps your models generalizing well to new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768906" y="604123"/>
            <a:ext cx="6675001" cy="821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950"/>
              <a:buFont typeface="Marcellus"/>
              <a:buNone/>
            </a:pPr>
            <a:r>
              <a:rPr b="0" i="0" lang="en-US" sz="49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Can Do Now</a:t>
            </a:r>
            <a:endParaRPr b="0" i="0" sz="4950" u="none" cap="none" strike="noStrike"/>
          </a:p>
        </p:txBody>
      </p:sp>
      <p:sp>
        <p:nvSpPr>
          <p:cNvPr id="42" name="Google Shape;42;p7"/>
          <p:cNvSpPr/>
          <p:nvPr/>
        </p:nvSpPr>
        <p:spPr>
          <a:xfrm>
            <a:off x="768906" y="1864519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1011436" y="2107049"/>
            <a:ext cx="4723686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Explain logistic regression clearly:</a:t>
            </a:r>
            <a:endParaRPr b="0" i="0" sz="2450" u="none" cap="none" strike="noStrike"/>
          </a:p>
        </p:txBody>
      </p:sp>
      <p:sp>
        <p:nvSpPr>
          <p:cNvPr id="44" name="Google Shape;44;p7"/>
          <p:cNvSpPr/>
          <p:nvPr/>
        </p:nvSpPr>
        <p:spPr>
          <a:xfrm>
            <a:off x="1011436" y="2649379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break down how the algorithm works to technical and non-technical audiences alike.</a:t>
            </a:r>
            <a:endParaRPr b="0" i="0" sz="1700" u="none" cap="none" strike="noStrike"/>
          </a:p>
        </p:txBody>
      </p:sp>
      <p:sp>
        <p:nvSpPr>
          <p:cNvPr id="45" name="Google Shape;45;p7"/>
          <p:cNvSpPr/>
          <p:nvPr/>
        </p:nvSpPr>
        <p:spPr>
          <a:xfrm>
            <a:off x="7424976" y="1864519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7667506" y="2107049"/>
            <a:ext cx="3310652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Build models in sklearn:</a:t>
            </a:r>
            <a:endParaRPr b="0" i="0" sz="2450" u="none" cap="none" strike="noStrike"/>
          </a:p>
        </p:txBody>
      </p:sp>
      <p:sp>
        <p:nvSpPr>
          <p:cNvPr id="47" name="Google Shape;47;p7"/>
          <p:cNvSpPr/>
          <p:nvPr/>
        </p:nvSpPr>
        <p:spPr>
          <a:xfrm>
            <a:off x="7667506" y="2649379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You're equipped to implement logistic regression efficiently using industry-standard tools.</a:t>
            </a:r>
            <a:endParaRPr b="0" i="0" sz="1700" u="none" cap="none" strike="noStrike"/>
          </a:p>
        </p:txBody>
      </p:sp>
      <p:sp>
        <p:nvSpPr>
          <p:cNvPr id="48" name="Google Shape;48;p7"/>
          <p:cNvSpPr/>
          <p:nvPr/>
        </p:nvSpPr>
        <p:spPr>
          <a:xfrm>
            <a:off x="768906" y="3682603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1011436" y="3925133"/>
            <a:ext cx="4853226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Read confusion matrices properly:</a:t>
            </a:r>
            <a:endParaRPr b="0" i="0" sz="2450" u="none" cap="none" strike="noStrike"/>
          </a:p>
        </p:txBody>
      </p:sp>
      <p:sp>
        <p:nvSpPr>
          <p:cNvPr id="50" name="Google Shape;50;p7"/>
          <p:cNvSpPr/>
          <p:nvPr/>
        </p:nvSpPr>
        <p:spPr>
          <a:xfrm>
            <a:off x="1011436" y="4467463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understand true positives, false negatives, and how to interpret model performance at a glance.</a:t>
            </a:r>
            <a:endParaRPr b="0" i="0" sz="1700" u="none" cap="none" strike="noStrike"/>
          </a:p>
        </p:txBody>
      </p:sp>
      <p:sp>
        <p:nvSpPr>
          <p:cNvPr id="51" name="Google Shape;51;p7"/>
          <p:cNvSpPr/>
          <p:nvPr/>
        </p:nvSpPr>
        <p:spPr>
          <a:xfrm>
            <a:off x="7424976" y="3682603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7667506" y="3925133"/>
            <a:ext cx="4114562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Tune thresholds strategically:</a:t>
            </a:r>
            <a:endParaRPr b="0" i="0" sz="2450" u="none" cap="none" strike="noStrike"/>
          </a:p>
        </p:txBody>
      </p:sp>
      <p:sp>
        <p:nvSpPr>
          <p:cNvPr id="53" name="Google Shape;53;p7"/>
          <p:cNvSpPr/>
          <p:nvPr/>
        </p:nvSpPr>
        <p:spPr>
          <a:xfrm>
            <a:off x="7667506" y="4467463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adjust decision boundaries based on business needs and cost considerations.</a:t>
            </a:r>
            <a:endParaRPr b="0" i="0" sz="1700" u="none" cap="none" strike="noStrike"/>
          </a:p>
        </p:txBody>
      </p:sp>
      <p:sp>
        <p:nvSpPr>
          <p:cNvPr id="54" name="Google Shape;54;p7"/>
          <p:cNvSpPr/>
          <p:nvPr/>
        </p:nvSpPr>
        <p:spPr>
          <a:xfrm>
            <a:off x="768906" y="5500687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011436" y="5743218"/>
            <a:ext cx="3368993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Apply L2 regularization:</a:t>
            </a:r>
            <a:endParaRPr b="0" i="0" sz="2450" u="none" cap="none" strike="noStrike"/>
          </a:p>
        </p:txBody>
      </p:sp>
      <p:sp>
        <p:nvSpPr>
          <p:cNvPr id="56" name="Google Shape;56;p7"/>
          <p:cNvSpPr/>
          <p:nvPr/>
        </p:nvSpPr>
        <p:spPr>
          <a:xfrm>
            <a:off x="1011436" y="6285548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know when and how to use regularization to improve model robustness and prevent overfitting.</a:t>
            </a:r>
            <a:endParaRPr b="0" i="0" sz="1700" u="none" cap="none" strike="noStrike"/>
          </a:p>
        </p:txBody>
      </p:sp>
      <p:sp>
        <p:nvSpPr>
          <p:cNvPr id="57" name="Google Shape;57;p7"/>
          <p:cNvSpPr/>
          <p:nvPr/>
        </p:nvSpPr>
        <p:spPr>
          <a:xfrm>
            <a:off x="7424976" y="5500687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7667506" y="5743218"/>
            <a:ext cx="5623798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Handle binary classification confidently:</a:t>
            </a:r>
            <a:endParaRPr b="0" i="0" sz="2450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7667506" y="6285548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You're ready to tackle real classification problems from data prep through model evaluation.</a:t>
            </a:r>
            <a:endParaRPr b="0" i="0" sz="1700" u="none" cap="none" strike="noStrike"/>
          </a:p>
        </p:txBody>
      </p:sp>
      <p:sp>
        <p:nvSpPr>
          <p:cNvPr id="60" name="Google Shape;60;p7"/>
          <p:cNvSpPr/>
          <p:nvPr/>
        </p:nvSpPr>
        <p:spPr>
          <a:xfrm>
            <a:off x="768906" y="7346156"/>
            <a:ext cx="13092589" cy="285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You've developed practical skills that make you ready for real-world binary classification challenges: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621268" y="489704"/>
            <a:ext cx="5103614" cy="66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000"/>
              <a:buFont typeface="Marcellus"/>
              <a:buNone/>
            </a:pPr>
            <a:r>
              <a:rPr b="0" i="0" lang="en-US" sz="40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Comes Next</a:t>
            </a:r>
            <a:endParaRPr b="0" i="0" sz="4000" u="none" cap="none" strike="noStrike"/>
          </a:p>
        </p:txBody>
      </p:sp>
      <p:sp>
        <p:nvSpPr>
          <p:cNvPr id="67" name="Google Shape;67;p8"/>
          <p:cNvSpPr/>
          <p:nvPr/>
        </p:nvSpPr>
        <p:spPr>
          <a:xfrm>
            <a:off x="621268" y="1224201"/>
            <a:ext cx="13387864" cy="796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You now have the solid foundation needed to explore more advanced classifiers. Your journey continues with:</a:t>
            </a:r>
            <a:endParaRPr b="0" i="0" sz="2400" u="none" cap="none" strike="noStrike"/>
          </a:p>
        </p:txBody>
      </p:sp>
      <p:sp>
        <p:nvSpPr>
          <p:cNvPr id="68" name="Google Shape;68;p8"/>
          <p:cNvSpPr/>
          <p:nvPr/>
        </p:nvSpPr>
        <p:spPr>
          <a:xfrm>
            <a:off x="798790" y="2552700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621268" y="2430661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2563773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1331119" y="2463879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Decision Trees</a:t>
            </a:r>
            <a:endParaRPr b="0" i="0" sz="2000" u="none" cap="none" strike="noStrike"/>
          </a:p>
        </p:txBody>
      </p:sp>
      <p:sp>
        <p:nvSpPr>
          <p:cNvPr id="72" name="Google Shape;72;p8"/>
          <p:cNvSpPr/>
          <p:nvPr/>
        </p:nvSpPr>
        <p:spPr>
          <a:xfrm>
            <a:off x="1331119" y="2901910"/>
            <a:ext cx="12678013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Learn how tree-based models make decisions through intuitive splits in your data.</a:t>
            </a:r>
            <a:endParaRPr b="0" i="0" sz="1350" u="none" cap="none" strike="noStrike"/>
          </a:p>
        </p:txBody>
      </p:sp>
      <p:sp>
        <p:nvSpPr>
          <p:cNvPr id="73" name="Google Shape;73;p8"/>
          <p:cNvSpPr/>
          <p:nvPr/>
        </p:nvSpPr>
        <p:spPr>
          <a:xfrm>
            <a:off x="1065014" y="3795117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887492" y="3673078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604" y="3806190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/>
          <p:nvPr/>
        </p:nvSpPr>
        <p:spPr>
          <a:xfrm>
            <a:off x="1597343" y="3706297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Random Forests</a:t>
            </a:r>
            <a:endParaRPr b="0" i="0" sz="2000" u="none" cap="none" strike="noStrike"/>
          </a:p>
        </p:txBody>
      </p:sp>
      <p:sp>
        <p:nvSpPr>
          <p:cNvPr id="77" name="Google Shape;77;p8"/>
          <p:cNvSpPr/>
          <p:nvPr/>
        </p:nvSpPr>
        <p:spPr>
          <a:xfrm>
            <a:off x="1597343" y="4144327"/>
            <a:ext cx="1241178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Discover ensemble methods that combine multiple trees for more powerful predictions.</a:t>
            </a:r>
            <a:endParaRPr b="0" i="0" sz="1350" u="none" cap="none" strike="noStrike"/>
          </a:p>
        </p:txBody>
      </p:sp>
      <p:sp>
        <p:nvSpPr>
          <p:cNvPr id="78" name="Google Shape;78;p8"/>
          <p:cNvSpPr/>
          <p:nvPr/>
        </p:nvSpPr>
        <p:spPr>
          <a:xfrm>
            <a:off x="1331238" y="5037534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1153716" y="4915495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6828" y="5048607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1863566" y="4948714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Softmax Regression</a:t>
            </a:r>
            <a:endParaRPr b="0" i="0" sz="2000" u="none" cap="none" strike="noStrike"/>
          </a:p>
        </p:txBody>
      </p:sp>
      <p:sp>
        <p:nvSpPr>
          <p:cNvPr id="82" name="Google Shape;82;p8"/>
          <p:cNvSpPr/>
          <p:nvPr/>
        </p:nvSpPr>
        <p:spPr>
          <a:xfrm>
            <a:off x="1863566" y="5386745"/>
            <a:ext cx="12145566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Extend your binary classification knowledge to handle multi-class problems elegantly.</a:t>
            </a:r>
            <a:endParaRPr b="0" i="0" sz="1350" u="none" cap="none" strike="noStrike"/>
          </a:p>
        </p:txBody>
      </p:sp>
      <p:sp>
        <p:nvSpPr>
          <p:cNvPr id="83" name="Google Shape;83;p8"/>
          <p:cNvSpPr/>
          <p:nvPr/>
        </p:nvSpPr>
        <p:spPr>
          <a:xfrm>
            <a:off x="1597581" y="6279952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1420058" y="6157913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3170" y="6291024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/>
          <p:nvPr/>
        </p:nvSpPr>
        <p:spPr>
          <a:xfrm>
            <a:off x="2129909" y="6191131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ROC and AUC</a:t>
            </a:r>
            <a:endParaRPr b="0" i="0" sz="2000" u="none" cap="none" strike="noStrike"/>
          </a:p>
        </p:txBody>
      </p:sp>
      <p:sp>
        <p:nvSpPr>
          <p:cNvPr id="87" name="Google Shape;87;p8"/>
          <p:cNvSpPr/>
          <p:nvPr/>
        </p:nvSpPr>
        <p:spPr>
          <a:xfrm>
            <a:off x="2129909" y="6629162"/>
            <a:ext cx="11879223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Master advanced evaluation techniques to compare models and optimize performance trade-offs.</a:t>
            </a:r>
            <a:endParaRPr b="0" i="0" sz="1350" u="none" cap="none" strike="noStrike"/>
          </a:p>
        </p:txBody>
      </p:sp>
      <p:sp>
        <p:nvSpPr>
          <p:cNvPr id="88" name="Google Shape;88;p8"/>
          <p:cNvSpPr/>
          <p:nvPr/>
        </p:nvSpPr>
        <p:spPr>
          <a:xfrm>
            <a:off x="621268" y="7278410"/>
            <a:ext cx="13387864" cy="46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skills you've built here are fundamental. Every classifier you learn next will build on the concepts you've mastered in this module. Keep building, keep learning!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